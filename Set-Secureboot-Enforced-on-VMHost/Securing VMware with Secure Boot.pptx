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embeddedFontLst>
    <p:embeddedFont>
      <p:font typeface="Inter" panose="020B0604020202020204" charset="0"/>
      <p:regular r:id="rId27"/>
      <p:bold r:id="rId28"/>
      <p:italic r:id="rId29"/>
      <p:boldItalic r:id="rId30"/>
    </p:embeddedFont>
    <p:embeddedFont>
      <p:font typeface="Inter SemiBold" panose="020B0604020202020204" charset="0"/>
      <p:regular r:id="rId31"/>
      <p:bold r:id="rId32"/>
      <p:italic r:id="rId33"/>
      <p:boldItalic r:id="rId34"/>
    </p:embeddedFont>
    <p:embeddedFont>
      <p:font typeface="Lato" panose="020F0502020204030203" pitchFamily="34" charset="0"/>
      <p:regular r:id="rId35"/>
      <p:bold r:id="rId36"/>
      <p:italic r:id="rId37"/>
      <p:boldItalic r:id="rId38"/>
    </p:embeddedFont>
    <p:embeddedFont>
      <p:font typeface="Poppins" panose="00000500000000000000" pitchFamily="2" charset="0"/>
      <p:regular r:id="rId39"/>
      <p:bold r:id="rId40"/>
      <p:italic r:id="rId41"/>
      <p:boldItalic r:id="rId42"/>
    </p:embeddedFont>
    <p:embeddedFont>
      <p:font typeface="Urbanist" panose="020B0604020202020204" charset="0"/>
      <p:regular r:id="rId43"/>
      <p:bold r:id="rId44"/>
      <p:italic r:id="rId45"/>
      <p:boldItalic r:id="rId46"/>
    </p:embeddedFont>
    <p:embeddedFont>
      <p:font typeface="Urbanist Medium" panose="020B0604020202020204" charset="0"/>
      <p:regular r:id="rId47"/>
      <p:bold r:id="rId48"/>
      <p:italic r:id="rId49"/>
      <p:boldItalic r:id="rId50"/>
    </p:embeddedFont>
    <p:embeddedFont>
      <p:font typeface="Urbanist SemiBold" panose="020B0604020202020204"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A5E9"/>
    <a:srgbClr val="C3E18C"/>
    <a:srgbClr val="A9B9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2BF1B7A-93A2-43A1-84C7-DEBE686D2207}">
  <a:tblStyle styleId="{C2BF1B7A-93A2-43A1-84C7-DEBE686D2207}"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19.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font" Target="fonts/font21.fntdata"/><Relationship Id="rId50" Type="http://schemas.openxmlformats.org/officeDocument/2006/relationships/font" Target="fonts/font24.fntdata"/><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3.fntdata"/><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3" Type="http://schemas.openxmlformats.org/officeDocument/2006/relationships/font" Target="fonts/font27.fntdata"/><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font" Target="fonts/font22.fntdata"/><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2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20" Type="http://schemas.openxmlformats.org/officeDocument/2006/relationships/slide" Target="slides/slide18.xml"/><Relationship Id="rId41" Type="http://schemas.openxmlformats.org/officeDocument/2006/relationships/font" Target="fonts/font15.fntdata"/><Relationship Id="rId54" Type="http://schemas.openxmlformats.org/officeDocument/2006/relationships/font" Target="fonts/font28.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font" Target="fonts/font23.fntdata"/><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font" Target="fonts/font2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ddc178ae17_0_1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g3ddc178ae17_0_1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ddc178ae17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3ddc178ae17_0_19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ddc178ae17_0_9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g3ddc178ae17_0_9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ddc178ae17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g3ddc178ae17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ddc178ae17_0_7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g3ddc178ae17_0_7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ddc178ae17_0_8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4" name="Google Shape;334;g3ddc178ae17_0_8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ddc178ae17_0_4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2" name="Google Shape;352;g3ddc178ae17_0_4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ddc178ae17_0_6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g3ddc178ae17_0_6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ddc178ae17_0_9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g3ddc178ae17_0_9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ddc178ae17_0_10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7" name="Google Shape;407;g3ddc178ae17_0_10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8" name="Google Shape;42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1" name="Google Shape;44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0" name="Google Shape;45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ddc178ae17_0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3" name="Google Shape;463;g3ddc178ae17_0_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1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p15"/>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93" name="Google Shape;93;p1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6"/>
        <p:cNvGrpSpPr/>
        <p:nvPr/>
      </p:nvGrpSpPr>
      <p:grpSpPr>
        <a:xfrm>
          <a:off x="0" y="0"/>
          <a:ext cx="0" cy="0"/>
          <a:chOff x="0" y="0"/>
          <a:chExt cx="0" cy="0"/>
        </a:xfrm>
      </p:grpSpPr>
      <p:sp>
        <p:nvSpPr>
          <p:cNvPr id="97" name="Google Shape;97;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16"/>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9" name="Google Shape;99;p1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p17"/>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17"/>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5" name="Google Shape;105;p1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1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18"/>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1" name="Google Shape;111;p18"/>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2" name="Google Shape;112;p1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19"/>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8" name="Google Shape;118;p19"/>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9" name="Google Shape;119;p19"/>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0" name="Google Shape;120;p19"/>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1" name="Google Shape;121;p1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sp>
        <p:nvSpPr>
          <p:cNvPr id="125" name="Google Shape;125;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2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2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2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9"/>
        <p:cNvGrpSpPr/>
        <p:nvPr/>
      </p:nvGrpSpPr>
      <p:grpSpPr>
        <a:xfrm>
          <a:off x="0" y="0"/>
          <a:ext cx="0" cy="0"/>
          <a:chOff x="0" y="0"/>
          <a:chExt cx="0" cy="0"/>
        </a:xfrm>
      </p:grpSpPr>
      <p:sp>
        <p:nvSpPr>
          <p:cNvPr id="130" name="Google Shape;130;p21"/>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1"/>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2" name="Google Shape;132;p21"/>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3" name="Google Shape;133;p2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2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2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6"/>
        <p:cNvGrpSpPr/>
        <p:nvPr/>
      </p:nvGrpSpPr>
      <p:grpSpPr>
        <a:xfrm>
          <a:off x="0" y="0"/>
          <a:ext cx="0" cy="0"/>
          <a:chOff x="0" y="0"/>
          <a:chExt cx="0" cy="0"/>
        </a:xfrm>
      </p:grpSpPr>
      <p:sp>
        <p:nvSpPr>
          <p:cNvPr id="137" name="Google Shape;137;p22"/>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p22"/>
          <p:cNvSpPr>
            <a:spLocks noGrp="1"/>
          </p:cNvSpPr>
          <p:nvPr>
            <p:ph type="pic" idx="2"/>
          </p:nvPr>
        </p:nvSpPr>
        <p:spPr>
          <a:xfrm>
            <a:off x="1792288" y="612775"/>
            <a:ext cx="5486400" cy="4114800"/>
          </a:xfrm>
          <a:prstGeom prst="rect">
            <a:avLst/>
          </a:prstGeom>
          <a:noFill/>
          <a:ln>
            <a:noFill/>
          </a:ln>
        </p:spPr>
      </p:sp>
      <p:sp>
        <p:nvSpPr>
          <p:cNvPr id="139" name="Google Shape;139;p22"/>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0" name="Google Shape;140;p2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2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3"/>
        <p:cNvGrpSpPr/>
        <p:nvPr/>
      </p:nvGrpSpPr>
      <p:grpSpPr>
        <a:xfrm>
          <a:off x="0" y="0"/>
          <a:ext cx="0" cy="0"/>
          <a:chOff x="0" y="0"/>
          <a:chExt cx="0" cy="0"/>
        </a:xfrm>
      </p:grpSpPr>
      <p:sp>
        <p:nvSpPr>
          <p:cNvPr id="144" name="Google Shape;144;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23"/>
          <p:cNvSpPr txBox="1">
            <a:spLocks noGrp="1"/>
          </p:cNvSpPr>
          <p:nvPr>
            <p:ph type="body" idx="1"/>
          </p:nvPr>
        </p:nvSpPr>
        <p:spPr>
          <a:xfrm rot="5400000">
            <a:off x="2308950" y="-251550"/>
            <a:ext cx="4526100"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6" name="Google Shape;146;p2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2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2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p24"/>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2" name="Google Shape;152;p2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2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2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p13"/>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marR="0" lvl="0" indent="-431800" algn="l">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4" name="Google Shape;84;p1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p1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sym typeface="Calibri"/>
              </a:defRPr>
            </a:lvl1pPr>
            <a:lvl2pPr marL="0" marR="0" lvl="1" indent="0" algn="r">
              <a:spcBef>
                <a:spcPts val="0"/>
              </a:spcBef>
              <a:buNone/>
              <a:defRPr sz="1200" b="0" i="0" u="none" strike="noStrike" cap="none">
                <a:solidFill>
                  <a:srgbClr val="888888"/>
                </a:solidFill>
                <a:latin typeface="Calibri"/>
                <a:ea typeface="Calibri"/>
                <a:cs typeface="Calibri"/>
                <a:sym typeface="Calibri"/>
              </a:defRPr>
            </a:lvl2pPr>
            <a:lvl3pPr marL="0" marR="0" lvl="2" indent="0" algn="r">
              <a:spcBef>
                <a:spcPts val="0"/>
              </a:spcBef>
              <a:buNone/>
              <a:defRPr sz="1200" b="0" i="0" u="none" strike="noStrike" cap="none">
                <a:solidFill>
                  <a:srgbClr val="888888"/>
                </a:solidFill>
                <a:latin typeface="Calibri"/>
                <a:ea typeface="Calibri"/>
                <a:cs typeface="Calibri"/>
                <a:sym typeface="Calibri"/>
              </a:defRPr>
            </a:lvl3pPr>
            <a:lvl4pPr marL="0" marR="0" lvl="3" indent="0" algn="r">
              <a:spcBef>
                <a:spcPts val="0"/>
              </a:spcBef>
              <a:buNone/>
              <a:defRPr sz="1200" b="0" i="0" u="none" strike="noStrike" cap="none">
                <a:solidFill>
                  <a:srgbClr val="888888"/>
                </a:solidFill>
                <a:latin typeface="Calibri"/>
                <a:ea typeface="Calibri"/>
                <a:cs typeface="Calibri"/>
                <a:sym typeface="Calibri"/>
              </a:defRPr>
            </a:lvl4pPr>
            <a:lvl5pPr marL="0" marR="0" lvl="4" indent="0" algn="r">
              <a:spcBef>
                <a:spcPts val="0"/>
              </a:spcBef>
              <a:buNone/>
              <a:defRPr sz="1200" b="0" i="0" u="none" strike="noStrike" cap="none">
                <a:solidFill>
                  <a:srgbClr val="888888"/>
                </a:solidFill>
                <a:latin typeface="Calibri"/>
                <a:ea typeface="Calibri"/>
                <a:cs typeface="Calibri"/>
                <a:sym typeface="Calibri"/>
              </a:defRPr>
            </a:lvl5pPr>
            <a:lvl6pPr marL="0" marR="0" lvl="5" indent="0" algn="r">
              <a:spcBef>
                <a:spcPts val="0"/>
              </a:spcBef>
              <a:buNone/>
              <a:defRPr sz="1200" b="0" i="0" u="none" strike="noStrike" cap="none">
                <a:solidFill>
                  <a:srgbClr val="888888"/>
                </a:solidFill>
                <a:latin typeface="Calibri"/>
                <a:ea typeface="Calibri"/>
                <a:cs typeface="Calibri"/>
                <a:sym typeface="Calibri"/>
              </a:defRPr>
            </a:lvl6pPr>
            <a:lvl7pPr marL="0" marR="0" lvl="6" indent="0" algn="r">
              <a:spcBef>
                <a:spcPts val="0"/>
              </a:spcBef>
              <a:buNone/>
              <a:defRPr sz="1200" b="0" i="0" u="none" strike="noStrike" cap="none">
                <a:solidFill>
                  <a:srgbClr val="888888"/>
                </a:solidFill>
                <a:latin typeface="Calibri"/>
                <a:ea typeface="Calibri"/>
                <a:cs typeface="Calibri"/>
                <a:sym typeface="Calibri"/>
              </a:defRPr>
            </a:lvl7pPr>
            <a:lvl8pPr marL="0" marR="0" lvl="7" indent="0" algn="r">
              <a:spcBef>
                <a:spcPts val="0"/>
              </a:spcBef>
              <a:buNone/>
              <a:defRPr sz="1200" b="0" i="0" u="none" strike="noStrike" cap="none">
                <a:solidFill>
                  <a:srgbClr val="888888"/>
                </a:solidFill>
                <a:latin typeface="Calibri"/>
                <a:ea typeface="Calibri"/>
                <a:cs typeface="Calibri"/>
                <a:sym typeface="Calibri"/>
              </a:defRPr>
            </a:lvl8pPr>
            <a:lvl9pPr marL="0" marR="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linktr.ee/russellhamker"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4.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58"/>
        <p:cNvGrpSpPr/>
        <p:nvPr/>
      </p:nvGrpSpPr>
      <p:grpSpPr>
        <a:xfrm>
          <a:off x="0" y="0"/>
          <a:ext cx="0" cy="0"/>
          <a:chOff x="0" y="0"/>
          <a:chExt cx="0" cy="0"/>
        </a:xfrm>
      </p:grpSpPr>
      <p:pic>
        <p:nvPicPr>
          <p:cNvPr id="159" name="Google Shape;159;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0" name="Google Shape;160;p25"/>
          <p:cNvSpPr txBox="1"/>
          <p:nvPr/>
        </p:nvSpPr>
        <p:spPr>
          <a:xfrm>
            <a:off x="305276" y="2590948"/>
            <a:ext cx="11581500" cy="914096"/>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5400" b="1" dirty="0">
                <a:solidFill>
                  <a:srgbClr val="F8FAFC"/>
                </a:solidFill>
                <a:latin typeface="Urbanist"/>
                <a:ea typeface="Urbanist"/>
                <a:cs typeface="Urbanist"/>
                <a:sym typeface="Urbanist"/>
              </a:rPr>
              <a:t>Securing VMware with Secure Boot</a:t>
            </a:r>
            <a:endParaRPr dirty="0"/>
          </a:p>
        </p:txBody>
      </p:sp>
      <p:sp>
        <p:nvSpPr>
          <p:cNvPr id="161" name="Google Shape;161;p25"/>
          <p:cNvSpPr txBox="1"/>
          <p:nvPr/>
        </p:nvSpPr>
        <p:spPr>
          <a:xfrm>
            <a:off x="2286000" y="3535709"/>
            <a:ext cx="7620000" cy="731341"/>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94A3B8"/>
                </a:solidFill>
                <a:latin typeface="Inter"/>
                <a:ea typeface="Inter"/>
                <a:cs typeface="Inter"/>
                <a:sym typeface="Inter"/>
              </a:rPr>
              <a:t>Implementing UEFI Secure Boot for VMware ESXi on Dell &amp; Cisco Systems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65"/>
        <p:cNvGrpSpPr/>
        <p:nvPr/>
      </p:nvGrpSpPr>
      <p:grpSpPr>
        <a:xfrm>
          <a:off x="0" y="0"/>
          <a:ext cx="0" cy="0"/>
          <a:chOff x="0" y="0"/>
          <a:chExt cx="0" cy="0"/>
        </a:xfrm>
      </p:grpSpPr>
      <p:pic>
        <p:nvPicPr>
          <p:cNvPr id="166" name="Google Shape;166;p26" descr="image.png"/>
          <p:cNvPicPr preferRelativeResize="0"/>
          <p:nvPr/>
        </p:nvPicPr>
        <p:blipFill rotWithShape="1">
          <a:blip r:embed="rId3">
            <a:alphaModFix/>
          </a:blip>
          <a:srcRect/>
          <a:stretch/>
        </p:blipFill>
        <p:spPr>
          <a:xfrm>
            <a:off x="4352925" y="1713028"/>
            <a:ext cx="7222000" cy="4494548"/>
          </a:xfrm>
          <a:prstGeom prst="rect">
            <a:avLst/>
          </a:prstGeom>
          <a:noFill/>
          <a:ln>
            <a:noFill/>
          </a:ln>
        </p:spPr>
      </p:pic>
      <p:sp>
        <p:nvSpPr>
          <p:cNvPr id="167" name="Google Shape;167;p26"/>
          <p:cNvSpPr txBox="1"/>
          <p:nvPr/>
        </p:nvSpPr>
        <p:spPr>
          <a:xfrm>
            <a:off x="971550" y="3326308"/>
            <a:ext cx="2840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a:p>
        </p:txBody>
      </p:sp>
      <p:sp>
        <p:nvSpPr>
          <p:cNvPr id="168" name="Google Shape;168;p26"/>
          <p:cNvSpPr txBox="1"/>
          <p:nvPr/>
        </p:nvSpPr>
        <p:spPr>
          <a:xfrm>
            <a:off x="4411025" y="1840420"/>
            <a:ext cx="7105800" cy="4395049"/>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800" dirty="0">
                <a:solidFill>
                  <a:srgbClr val="0EA5E9"/>
                </a:solidFill>
                <a:latin typeface="Inter"/>
                <a:ea typeface="Inter"/>
                <a:cs typeface="Inter"/>
                <a:sym typeface="Inter"/>
              </a:rPr>
              <a:t>About Me:</a:t>
            </a:r>
            <a:endParaRPr sz="1800" dirty="0">
              <a:solidFill>
                <a:srgbClr val="0EA5E9"/>
              </a:solidFill>
              <a:latin typeface="Inter"/>
              <a:ea typeface="Inter"/>
              <a:cs typeface="Inter"/>
              <a:sym typeface="Inter"/>
            </a:endParaRPr>
          </a:p>
          <a:p>
            <a:pPr marL="0" marR="0" lvl="0" indent="0" algn="l" rtl="0">
              <a:lnSpc>
                <a:spcPct val="159929"/>
              </a:lnSpc>
              <a:spcBef>
                <a:spcPts val="0"/>
              </a:spcBef>
              <a:spcAft>
                <a:spcPts val="0"/>
              </a:spcAft>
              <a:buNone/>
            </a:pPr>
            <a:r>
              <a:rPr lang="en-US" sz="1800" dirty="0">
                <a:solidFill>
                  <a:srgbClr val="C3E18C"/>
                </a:solidFill>
                <a:latin typeface="Inter"/>
                <a:ea typeface="Inter"/>
                <a:cs typeface="Inter"/>
                <a:sym typeface="Inter"/>
              </a:rPr>
              <a:t>Russell Hamker</a:t>
            </a:r>
            <a:endParaRPr sz="1800" dirty="0">
              <a:solidFill>
                <a:srgbClr val="C3E18C"/>
              </a:solidFill>
              <a:latin typeface="Inter"/>
              <a:ea typeface="Inter"/>
              <a:cs typeface="Inter"/>
              <a:sym typeface="Inter"/>
            </a:endParaRPr>
          </a:p>
          <a:p>
            <a:pPr marL="457200" marR="0" lvl="0" indent="-319088" algn="l" rtl="0">
              <a:lnSpc>
                <a:spcPct val="159929"/>
              </a:lnSpc>
              <a:spcBef>
                <a:spcPts val="0"/>
              </a:spcBef>
              <a:spcAft>
                <a:spcPts val="0"/>
              </a:spcAft>
              <a:buClr>
                <a:srgbClr val="CBD5E1"/>
              </a:buClr>
              <a:buSzPts val="1425"/>
              <a:buFont typeface="Inter"/>
              <a:buChar char="●"/>
            </a:pPr>
            <a:r>
              <a:rPr lang="en-US" sz="1425" dirty="0">
                <a:solidFill>
                  <a:srgbClr val="CBD5E1"/>
                </a:solidFill>
                <a:latin typeface="Inter"/>
                <a:ea typeface="Inter"/>
                <a:cs typeface="Inter"/>
                <a:sym typeface="Inter"/>
              </a:rPr>
              <a:t>16+ years Running VMware</a:t>
            </a:r>
            <a:endParaRPr sz="1425" dirty="0">
              <a:solidFill>
                <a:srgbClr val="CBD5E1"/>
              </a:solidFill>
              <a:latin typeface="Inter"/>
              <a:ea typeface="Inter"/>
              <a:cs typeface="Inter"/>
              <a:sym typeface="Inter"/>
            </a:endParaRPr>
          </a:p>
          <a:p>
            <a:pPr marL="457200" marR="0" lvl="0" indent="-319088" algn="l" rtl="0">
              <a:lnSpc>
                <a:spcPct val="159929"/>
              </a:lnSpc>
              <a:spcBef>
                <a:spcPts val="0"/>
              </a:spcBef>
              <a:spcAft>
                <a:spcPts val="0"/>
              </a:spcAft>
              <a:buClr>
                <a:srgbClr val="CBD5E1"/>
              </a:buClr>
              <a:buSzPts val="1425"/>
              <a:buFont typeface="Inter"/>
              <a:buChar char="●"/>
            </a:pPr>
            <a:r>
              <a:rPr lang="en-US" sz="1425" dirty="0">
                <a:solidFill>
                  <a:srgbClr val="CBD5E1"/>
                </a:solidFill>
                <a:latin typeface="Inter"/>
                <a:ea typeface="Inter"/>
                <a:cs typeface="Inter"/>
                <a:sym typeface="Inter"/>
              </a:rPr>
              <a:t>VCP5-2022</a:t>
            </a:r>
            <a:endParaRPr sz="1425" dirty="0">
              <a:solidFill>
                <a:srgbClr val="CBD5E1"/>
              </a:solidFill>
              <a:latin typeface="Inter"/>
              <a:ea typeface="Inter"/>
              <a:cs typeface="Inter"/>
              <a:sym typeface="Inter"/>
            </a:endParaRPr>
          </a:p>
          <a:p>
            <a:pPr marL="457200" marR="0" lvl="0" indent="-319088" algn="l" rtl="0">
              <a:lnSpc>
                <a:spcPct val="159929"/>
              </a:lnSpc>
              <a:spcBef>
                <a:spcPts val="0"/>
              </a:spcBef>
              <a:spcAft>
                <a:spcPts val="0"/>
              </a:spcAft>
              <a:buClr>
                <a:srgbClr val="CBD5E1"/>
              </a:buClr>
              <a:buSzPts val="1425"/>
              <a:buFont typeface="Inter"/>
              <a:buChar char="●"/>
            </a:pPr>
            <a:r>
              <a:rPr lang="en-US" sz="1425" dirty="0">
                <a:solidFill>
                  <a:srgbClr val="CBD5E1"/>
                </a:solidFill>
                <a:latin typeface="Inter"/>
                <a:ea typeface="Inter"/>
                <a:cs typeface="Inter"/>
                <a:sym typeface="Inter"/>
              </a:rPr>
              <a:t>Employer – Dish Wireless</a:t>
            </a:r>
            <a:endParaRPr sz="1425" dirty="0">
              <a:solidFill>
                <a:srgbClr val="CBD5E1"/>
              </a:solidFill>
              <a:latin typeface="Inter"/>
              <a:ea typeface="Inter"/>
              <a:cs typeface="Inter"/>
              <a:sym typeface="Inter"/>
            </a:endParaRPr>
          </a:p>
          <a:p>
            <a:pPr marL="457200" marR="0" lvl="0" indent="-319088" algn="l" rtl="0">
              <a:lnSpc>
                <a:spcPct val="159929"/>
              </a:lnSpc>
              <a:spcBef>
                <a:spcPts val="0"/>
              </a:spcBef>
              <a:spcAft>
                <a:spcPts val="0"/>
              </a:spcAft>
              <a:buClr>
                <a:srgbClr val="CBD5E1"/>
              </a:buClr>
              <a:buSzPts val="1425"/>
              <a:buFont typeface="Inter"/>
              <a:buChar char="●"/>
            </a:pPr>
            <a:r>
              <a:rPr lang="en-US" sz="1425" dirty="0">
                <a:solidFill>
                  <a:srgbClr val="CBD5E1"/>
                </a:solidFill>
                <a:latin typeface="Inter"/>
                <a:ea typeface="Inter"/>
                <a:cs typeface="Inter"/>
                <a:sym typeface="Inter"/>
              </a:rPr>
              <a:t>Title – VMware Enterprise Architect</a:t>
            </a:r>
            <a:endParaRPr sz="1425" dirty="0">
              <a:solidFill>
                <a:srgbClr val="CBD5E1"/>
              </a:solidFill>
              <a:latin typeface="Inter"/>
              <a:ea typeface="Inter"/>
              <a:cs typeface="Inter"/>
              <a:sym typeface="Inter"/>
            </a:endParaRPr>
          </a:p>
          <a:p>
            <a:pPr marL="457200" marR="0" lvl="0" indent="-319088" algn="l" rtl="0">
              <a:lnSpc>
                <a:spcPct val="159929"/>
              </a:lnSpc>
              <a:spcBef>
                <a:spcPts val="0"/>
              </a:spcBef>
              <a:spcAft>
                <a:spcPts val="0"/>
              </a:spcAft>
              <a:buClr>
                <a:srgbClr val="CBD5E1"/>
              </a:buClr>
              <a:buSzPts val="1425"/>
              <a:buFont typeface="Inter"/>
              <a:buChar char="●"/>
            </a:pPr>
            <a:r>
              <a:rPr lang="en-US" sz="1425" dirty="0" err="1">
                <a:solidFill>
                  <a:srgbClr val="CBD5E1"/>
                </a:solidFill>
                <a:latin typeface="Inter"/>
                <a:ea typeface="Inter"/>
                <a:cs typeface="Inter"/>
                <a:sym typeface="Inter"/>
              </a:rPr>
              <a:t>vExpert</a:t>
            </a:r>
            <a:r>
              <a:rPr lang="en-US" sz="1425" dirty="0">
                <a:solidFill>
                  <a:srgbClr val="CBD5E1"/>
                </a:solidFill>
                <a:latin typeface="Inter"/>
                <a:ea typeface="Inter"/>
                <a:cs typeface="Inter"/>
                <a:sym typeface="Inter"/>
              </a:rPr>
              <a:t> – 11 years and running</a:t>
            </a:r>
            <a:endParaRPr sz="1425" dirty="0">
              <a:solidFill>
                <a:srgbClr val="CBD5E1"/>
              </a:solidFill>
              <a:latin typeface="Inter"/>
              <a:ea typeface="Inter"/>
              <a:cs typeface="Inter"/>
              <a:sym typeface="Inter"/>
            </a:endParaRPr>
          </a:p>
          <a:p>
            <a:pPr marL="457200" marR="0" lvl="0" indent="-319088" algn="l" rtl="0">
              <a:lnSpc>
                <a:spcPct val="159929"/>
              </a:lnSpc>
              <a:spcBef>
                <a:spcPts val="0"/>
              </a:spcBef>
              <a:spcAft>
                <a:spcPts val="0"/>
              </a:spcAft>
              <a:buClr>
                <a:srgbClr val="CBD5E1"/>
              </a:buClr>
              <a:buSzPts val="1425"/>
              <a:buFont typeface="Inter"/>
              <a:buChar char="●"/>
            </a:pPr>
            <a:r>
              <a:rPr lang="en-US" sz="1425" dirty="0">
                <a:solidFill>
                  <a:srgbClr val="CBD5E1"/>
                </a:solidFill>
                <a:latin typeface="Inter"/>
                <a:ea typeface="Inter"/>
                <a:cs typeface="Inter"/>
                <a:sym typeface="Inter"/>
              </a:rPr>
              <a:t>VMUG Leader – Wichita KS</a:t>
            </a:r>
            <a:endParaRPr sz="1425" dirty="0">
              <a:solidFill>
                <a:srgbClr val="CBD5E1"/>
              </a:solidFill>
              <a:latin typeface="Inter"/>
              <a:ea typeface="Inter"/>
              <a:cs typeface="Inter"/>
              <a:sym typeface="Inter"/>
            </a:endParaRPr>
          </a:p>
          <a:p>
            <a:pPr marL="457200" marR="0" lvl="0" indent="-319088" algn="l" rtl="0">
              <a:lnSpc>
                <a:spcPct val="159929"/>
              </a:lnSpc>
              <a:spcBef>
                <a:spcPts val="0"/>
              </a:spcBef>
              <a:spcAft>
                <a:spcPts val="0"/>
              </a:spcAft>
              <a:buClr>
                <a:srgbClr val="CBD5E1"/>
              </a:buClr>
              <a:buSzPts val="1425"/>
              <a:buFont typeface="Inter"/>
              <a:buChar char="●"/>
            </a:pPr>
            <a:r>
              <a:rPr lang="en-US" sz="1425" dirty="0">
                <a:solidFill>
                  <a:srgbClr val="CBD5E1"/>
                </a:solidFill>
                <a:latin typeface="Inter"/>
                <a:ea typeface="Inter"/>
                <a:cs typeface="Inter"/>
                <a:sym typeface="Inter"/>
              </a:rPr>
              <a:t>Twitter - @butch7903</a:t>
            </a:r>
            <a:endParaRPr sz="1425" dirty="0">
              <a:solidFill>
                <a:srgbClr val="CBD5E1"/>
              </a:solidFill>
              <a:latin typeface="Inter"/>
              <a:ea typeface="Inter"/>
              <a:cs typeface="Inter"/>
              <a:sym typeface="Inter"/>
            </a:endParaRPr>
          </a:p>
          <a:p>
            <a:pPr marL="457200" marR="0" lvl="0" indent="-319088" algn="l" rtl="0">
              <a:lnSpc>
                <a:spcPct val="159929"/>
              </a:lnSpc>
              <a:spcBef>
                <a:spcPts val="0"/>
              </a:spcBef>
              <a:spcAft>
                <a:spcPts val="0"/>
              </a:spcAft>
              <a:buClr>
                <a:srgbClr val="CBD5E1"/>
              </a:buClr>
              <a:buSzPts val="1425"/>
              <a:buFont typeface="Inter"/>
              <a:buChar char="●"/>
            </a:pPr>
            <a:r>
              <a:rPr lang="en-US" sz="1425" dirty="0">
                <a:solidFill>
                  <a:srgbClr val="CBD5E1"/>
                </a:solidFill>
                <a:latin typeface="Inter"/>
                <a:ea typeface="Inter"/>
                <a:cs typeface="Inter"/>
                <a:sym typeface="Inter"/>
              </a:rPr>
              <a:t>Tanzu Vanguard</a:t>
            </a:r>
          </a:p>
          <a:p>
            <a:pPr marL="457200" marR="0" lvl="0" indent="-319088" algn="l" rtl="0">
              <a:lnSpc>
                <a:spcPct val="159929"/>
              </a:lnSpc>
              <a:spcBef>
                <a:spcPts val="0"/>
              </a:spcBef>
              <a:spcAft>
                <a:spcPts val="0"/>
              </a:spcAft>
              <a:buClr>
                <a:srgbClr val="CBD5E1"/>
              </a:buClr>
              <a:buSzPts val="1425"/>
              <a:buFont typeface="Inter"/>
              <a:buChar char="●"/>
            </a:pPr>
            <a:r>
              <a:rPr lang="en-US" sz="1425" u="sng" dirty="0">
                <a:solidFill>
                  <a:schemeClr val="bg1"/>
                </a:solidFill>
                <a:latin typeface="Inter"/>
                <a:ea typeface="Inter"/>
                <a:cs typeface="Inter"/>
                <a:sym typeface="Inter"/>
                <a:hlinkClick r:id="rId4">
                  <a:extLst>
                    <a:ext uri="{A12FA001-AC4F-418D-AE19-62706E023703}">
                      <ahyp:hlinkClr xmlns:ahyp="http://schemas.microsoft.com/office/drawing/2018/hyperlinkcolor" val="tx"/>
                    </a:ext>
                  </a:extLst>
                </a:hlinkClick>
              </a:rPr>
              <a:t>https://linktr.ee/russellhamker</a:t>
            </a:r>
            <a:r>
              <a:rPr lang="en-US" sz="1425" dirty="0">
                <a:solidFill>
                  <a:schemeClr val="bg1"/>
                </a:solidFill>
                <a:latin typeface="Inter"/>
                <a:ea typeface="Inter"/>
                <a:cs typeface="Inter"/>
                <a:sym typeface="Inter"/>
              </a:rPr>
              <a:t> </a:t>
            </a:r>
            <a:endParaRPr sz="1425" dirty="0">
              <a:solidFill>
                <a:schemeClr val="bg1"/>
              </a:solidFill>
              <a:latin typeface="Inter"/>
              <a:ea typeface="Inter"/>
              <a:cs typeface="Inter"/>
              <a:sym typeface="Inter"/>
            </a:endParaRPr>
          </a:p>
          <a:p>
            <a:pPr marL="0" marR="0" lvl="0" indent="0" algn="l" rtl="0">
              <a:lnSpc>
                <a:spcPct val="159929"/>
              </a:lnSpc>
              <a:spcBef>
                <a:spcPts val="0"/>
              </a:spcBef>
              <a:spcAft>
                <a:spcPts val="0"/>
              </a:spcAft>
              <a:buNone/>
            </a:pPr>
            <a:endParaRPr sz="1425" dirty="0">
              <a:solidFill>
                <a:srgbClr val="CBD5E1"/>
              </a:solidFill>
              <a:latin typeface="Inter"/>
              <a:ea typeface="Inter"/>
              <a:cs typeface="Inter"/>
              <a:sym typeface="Inter"/>
            </a:endParaRPr>
          </a:p>
        </p:txBody>
      </p:sp>
      <p:sp>
        <p:nvSpPr>
          <p:cNvPr id="169" name="Google Shape;169;p26"/>
          <p:cNvSpPr txBox="1"/>
          <p:nvPr/>
        </p:nvSpPr>
        <p:spPr>
          <a:xfrm>
            <a:off x="771525" y="581025"/>
            <a:ext cx="11381400" cy="5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a:solidFill>
                  <a:srgbClr val="F8FAFC"/>
                </a:solidFill>
                <a:latin typeface="Urbanist SemiBold"/>
                <a:ea typeface="Urbanist SemiBold"/>
                <a:cs typeface="Urbanist SemiBold"/>
                <a:sym typeface="Urbanist SemiBold"/>
              </a:rPr>
              <a:t>Intro</a:t>
            </a:r>
            <a:endParaRPr/>
          </a:p>
        </p:txBody>
      </p:sp>
      <p:sp>
        <p:nvSpPr>
          <p:cNvPr id="170" name="Google Shape;170;p26"/>
          <p:cNvSpPr/>
          <p:nvPr/>
        </p:nvSpPr>
        <p:spPr>
          <a:xfrm>
            <a:off x="581025" y="581025"/>
            <a:ext cx="57300" cy="504900"/>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71" name="Google Shape;171;p26"/>
          <p:cNvPicPr preferRelativeResize="0"/>
          <p:nvPr/>
        </p:nvPicPr>
        <p:blipFill>
          <a:blip r:embed="rId5">
            <a:alphaModFix/>
          </a:blip>
          <a:stretch>
            <a:fillRect/>
          </a:stretch>
        </p:blipFill>
        <p:spPr>
          <a:xfrm>
            <a:off x="638325" y="1713027"/>
            <a:ext cx="2385475" cy="2378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75"/>
        <p:cNvGrpSpPr/>
        <p:nvPr/>
      </p:nvGrpSpPr>
      <p:grpSpPr>
        <a:xfrm>
          <a:off x="0" y="0"/>
          <a:ext cx="0" cy="0"/>
          <a:chOff x="0" y="0"/>
          <a:chExt cx="0" cy="0"/>
        </a:xfrm>
      </p:grpSpPr>
      <p:pic>
        <p:nvPicPr>
          <p:cNvPr id="176" name="Google Shape;176;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7" name="Google Shape;177;p27"/>
          <p:cNvSpPr/>
          <p:nvPr/>
        </p:nvSpPr>
        <p:spPr>
          <a:xfrm>
            <a:off x="5619750" y="2946052"/>
            <a:ext cx="952500" cy="38100"/>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8" name="Google Shape;178;p27"/>
          <p:cNvSpPr txBox="1"/>
          <p:nvPr/>
        </p:nvSpPr>
        <p:spPr>
          <a:xfrm>
            <a:off x="305276" y="3269902"/>
            <a:ext cx="11581447"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F8FAFC"/>
                </a:solidFill>
                <a:latin typeface="Urbanist SemiBold" panose="020B0604020202020204" charset="0"/>
                <a:ea typeface="Urbanist SemiBold" panose="020B0604020202020204" charset="0"/>
                <a:cs typeface="Urbanist SemiBold" panose="020B0604020202020204" charset="0"/>
                <a:sym typeface="Urbanist"/>
              </a:rPr>
              <a:t>Why Secure Boot Matters</a:t>
            </a:r>
            <a:endParaRPr dirty="0">
              <a:latin typeface="Urbanist SemiBold" panose="020B0604020202020204" charset="0"/>
              <a:ea typeface="Urbanist SemiBold" panose="020B0604020202020204" charset="0"/>
              <a:cs typeface="Urbanist SemiBold" panose="020B0604020202020204" charset="0"/>
            </a:endParaRPr>
          </a:p>
        </p:txBody>
      </p:sp>
      <p:sp>
        <p:nvSpPr>
          <p:cNvPr id="179" name="Google Shape;179;p27"/>
          <p:cNvSpPr txBox="1"/>
          <p:nvPr/>
        </p:nvSpPr>
        <p:spPr>
          <a:xfrm>
            <a:off x="581025" y="3727102"/>
            <a:ext cx="11029950" cy="393954"/>
          </a:xfrm>
          <a:prstGeom prst="rect">
            <a:avLst/>
          </a:prstGeom>
          <a:noFill/>
          <a:ln>
            <a:noFill/>
          </a:ln>
        </p:spPr>
        <p:txBody>
          <a:bodyPr spcFirstLastPara="1" wrap="square" lIns="0" tIns="0" rIns="0" bIns="0" anchor="t" anchorCtr="0">
            <a:spAutoFit/>
          </a:bodyPr>
          <a:lstStyle/>
          <a:p>
            <a:pPr marL="0" marR="0" lvl="0" indent="0" algn="ctr" rtl="0">
              <a:lnSpc>
                <a:spcPct val="159929"/>
              </a:lnSpc>
              <a:spcBef>
                <a:spcPts val="0"/>
              </a:spcBef>
              <a:spcAft>
                <a:spcPts val="0"/>
              </a:spcAft>
              <a:buNone/>
            </a:pPr>
            <a:r>
              <a:rPr lang="en-US" sz="1600" b="0" i="0" u="none" strike="noStrike" cap="none" dirty="0">
                <a:solidFill>
                  <a:srgbClr val="CBD5E1"/>
                </a:solidFill>
                <a:latin typeface="Inter"/>
                <a:ea typeface="Inter"/>
                <a:cs typeface="Inter"/>
                <a:sym typeface="Inter"/>
              </a:rPr>
              <a:t>The Foundation of Modern Infrastructure Security</a:t>
            </a:r>
            <a:endParaRPr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83"/>
        <p:cNvGrpSpPr/>
        <p:nvPr/>
      </p:nvGrpSpPr>
      <p:grpSpPr>
        <a:xfrm>
          <a:off x="0" y="0"/>
          <a:ext cx="0" cy="0"/>
          <a:chOff x="0" y="0"/>
          <a:chExt cx="0" cy="0"/>
        </a:xfrm>
      </p:grpSpPr>
      <p:pic>
        <p:nvPicPr>
          <p:cNvPr id="184" name="Google Shape;184;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5" name="Google Shape;185;p28" descr="image.png"/>
          <p:cNvPicPr preferRelativeResize="0"/>
          <p:nvPr/>
        </p:nvPicPr>
        <p:blipFill rotWithShape="1">
          <a:blip r:embed="rId4">
            <a:alphaModFix/>
          </a:blip>
          <a:srcRect/>
          <a:stretch/>
        </p:blipFill>
        <p:spPr>
          <a:xfrm>
            <a:off x="581025" y="1716881"/>
            <a:ext cx="11029950" cy="571500"/>
          </a:xfrm>
          <a:prstGeom prst="rect">
            <a:avLst/>
          </a:prstGeom>
          <a:noFill/>
          <a:ln>
            <a:noFill/>
          </a:ln>
        </p:spPr>
      </p:pic>
      <p:sp>
        <p:nvSpPr>
          <p:cNvPr id="186" name="Google Shape;186;p28"/>
          <p:cNvSpPr txBox="1"/>
          <p:nvPr/>
        </p:nvSpPr>
        <p:spPr>
          <a:xfrm>
            <a:off x="1595437" y="2478881"/>
            <a:ext cx="9001200" cy="1523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300" b="1" i="1" u="none" strike="noStrike" cap="none">
                <a:solidFill>
                  <a:srgbClr val="F8FAFC"/>
                </a:solidFill>
                <a:latin typeface="Urbanist"/>
                <a:ea typeface="Urbanist"/>
                <a:cs typeface="Urbanist"/>
                <a:sym typeface="Urbanist"/>
              </a:rPr>
              <a:t>"Secure Boot isn't just about a checkbox; it's about defining the integrity of the ground upon which your entire infrastructure stands."</a:t>
            </a:r>
            <a:endParaRPr/>
          </a:p>
        </p:txBody>
      </p:sp>
      <p:sp>
        <p:nvSpPr>
          <p:cNvPr id="187" name="Google Shape;187;p28"/>
          <p:cNvSpPr txBox="1"/>
          <p:nvPr/>
        </p:nvSpPr>
        <p:spPr>
          <a:xfrm>
            <a:off x="581025" y="4688681"/>
            <a:ext cx="11030100" cy="219300"/>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0" i="0" u="none" strike="noStrike" cap="none">
                <a:solidFill>
                  <a:srgbClr val="DAFFDE"/>
                </a:solidFill>
                <a:latin typeface="Inter SemiBold"/>
                <a:ea typeface="Inter SemiBold"/>
                <a:cs typeface="Inter SemiBold"/>
                <a:sym typeface="Inter SemiBold"/>
              </a:rPr>
              <a:t>— vSphere Security Best Practices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91"/>
        <p:cNvGrpSpPr/>
        <p:nvPr/>
      </p:nvGrpSpPr>
      <p:grpSpPr>
        <a:xfrm>
          <a:off x="0" y="0"/>
          <a:ext cx="0" cy="0"/>
          <a:chOff x="0" y="0"/>
          <a:chExt cx="0" cy="0"/>
        </a:xfrm>
      </p:grpSpPr>
      <p:pic>
        <p:nvPicPr>
          <p:cNvPr id="192" name="Google Shape;192;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3" name="Google Shape;193;p29" descr="image.png"/>
          <p:cNvPicPr preferRelativeResize="0"/>
          <p:nvPr/>
        </p:nvPicPr>
        <p:blipFill rotWithShape="1">
          <a:blip r:embed="rId4">
            <a:alphaModFix/>
          </a:blip>
          <a:srcRect/>
          <a:stretch/>
        </p:blipFill>
        <p:spPr>
          <a:xfrm>
            <a:off x="581025" y="2664321"/>
            <a:ext cx="5229225" cy="2415182"/>
          </a:xfrm>
          <a:prstGeom prst="rect">
            <a:avLst/>
          </a:prstGeom>
          <a:noFill/>
          <a:ln>
            <a:noFill/>
          </a:ln>
        </p:spPr>
      </p:pic>
      <p:pic>
        <p:nvPicPr>
          <p:cNvPr id="194" name="Google Shape;194;p29" descr="image.png"/>
          <p:cNvPicPr preferRelativeResize="0"/>
          <p:nvPr/>
        </p:nvPicPr>
        <p:blipFill rotWithShape="1">
          <a:blip r:embed="rId4">
            <a:alphaModFix/>
          </a:blip>
          <a:srcRect/>
          <a:stretch/>
        </p:blipFill>
        <p:spPr>
          <a:xfrm>
            <a:off x="6381750" y="2664321"/>
            <a:ext cx="5229225" cy="2415182"/>
          </a:xfrm>
          <a:prstGeom prst="rect">
            <a:avLst/>
          </a:prstGeom>
          <a:noFill/>
          <a:ln>
            <a:noFill/>
          </a:ln>
        </p:spPr>
      </p:pic>
      <p:sp>
        <p:nvSpPr>
          <p:cNvPr id="195" name="Google Shape;195;p29"/>
          <p:cNvSpPr txBox="1"/>
          <p:nvPr/>
        </p:nvSpPr>
        <p:spPr>
          <a:xfrm>
            <a:off x="866775" y="2950071"/>
            <a:ext cx="4890611"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a:solidFill>
                  <a:srgbClr val="C3E18C"/>
                </a:solidFill>
                <a:latin typeface="Urbanist Medium"/>
                <a:ea typeface="Urbanist Medium"/>
                <a:cs typeface="Urbanist Medium"/>
                <a:sym typeface="Urbanist Medium"/>
              </a:rPr>
              <a:t>Combatting Rootkits</a:t>
            </a:r>
            <a:endParaRPr dirty="0">
              <a:solidFill>
                <a:srgbClr val="C3E18C"/>
              </a:solidFill>
            </a:endParaRPr>
          </a:p>
        </p:txBody>
      </p:sp>
      <p:sp>
        <p:nvSpPr>
          <p:cNvPr id="196" name="Google Shape;196;p29"/>
          <p:cNvSpPr txBox="1"/>
          <p:nvPr/>
        </p:nvSpPr>
        <p:spPr>
          <a:xfrm>
            <a:off x="866775" y="3454896"/>
            <a:ext cx="4657725"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dirty="0">
                <a:solidFill>
                  <a:srgbClr val="CBD5E1"/>
                </a:solidFill>
                <a:latin typeface="Inter"/>
                <a:ea typeface="Inter"/>
                <a:cs typeface="Inter"/>
                <a:sym typeface="Inter"/>
              </a:rPr>
              <a:t>Secure Boot prevents unauthorized code from executing during the boot sequence. This stops rootkits and </a:t>
            </a:r>
            <a:r>
              <a:rPr lang="en-US" sz="1425" b="0" i="0" u="none" strike="noStrike" cap="none" dirty="0" err="1">
                <a:solidFill>
                  <a:srgbClr val="CBD5E1"/>
                </a:solidFill>
                <a:latin typeface="Inter"/>
                <a:ea typeface="Inter"/>
                <a:cs typeface="Inter"/>
                <a:sym typeface="Inter"/>
              </a:rPr>
              <a:t>bootkits</a:t>
            </a:r>
            <a:r>
              <a:rPr lang="en-US" sz="1425" b="0" i="0" u="none" strike="noStrike" cap="none" dirty="0">
                <a:solidFill>
                  <a:srgbClr val="CBD5E1"/>
                </a:solidFill>
                <a:latin typeface="Inter"/>
                <a:ea typeface="Inter"/>
                <a:cs typeface="Inter"/>
                <a:sym typeface="Inter"/>
              </a:rPr>
              <a:t> from nesting beneath the OS layer where traditional antivirus cannot reach.</a:t>
            </a:r>
            <a:endParaRPr dirty="0"/>
          </a:p>
        </p:txBody>
      </p:sp>
      <p:sp>
        <p:nvSpPr>
          <p:cNvPr id="197" name="Google Shape;197;p29"/>
          <p:cNvSpPr txBox="1"/>
          <p:nvPr/>
        </p:nvSpPr>
        <p:spPr>
          <a:xfrm>
            <a:off x="6667500" y="2950071"/>
            <a:ext cx="4890611"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a:solidFill>
                  <a:srgbClr val="C3E18C"/>
                </a:solidFill>
                <a:latin typeface="Urbanist Medium"/>
                <a:ea typeface="Urbanist Medium"/>
                <a:cs typeface="Urbanist Medium"/>
                <a:sym typeface="Urbanist Medium"/>
              </a:rPr>
              <a:t>Enforcing VIB Integrity</a:t>
            </a:r>
            <a:endParaRPr dirty="0">
              <a:solidFill>
                <a:srgbClr val="C3E18C"/>
              </a:solidFill>
            </a:endParaRPr>
          </a:p>
        </p:txBody>
      </p:sp>
      <p:sp>
        <p:nvSpPr>
          <p:cNvPr id="198" name="Google Shape;198;p29"/>
          <p:cNvSpPr txBox="1"/>
          <p:nvPr/>
        </p:nvSpPr>
        <p:spPr>
          <a:xfrm>
            <a:off x="6667500" y="3454896"/>
            <a:ext cx="4657725"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CBD5E1"/>
                </a:solidFill>
                <a:latin typeface="Inter"/>
                <a:ea typeface="Inter"/>
                <a:cs typeface="Inter"/>
                <a:sym typeface="Inter"/>
              </a:rPr>
              <a:t>ESXi requires all VSphere Installation Bundles (VIBs) to be cryptographically signed. Secure Boot enforces this policy, ensuring that only trusted, unaltered drivers and kernels are loaded.</a:t>
            </a:r>
            <a:endParaRPr/>
          </a:p>
        </p:txBody>
      </p:sp>
      <p:sp>
        <p:nvSpPr>
          <p:cNvPr id="199" name="Google Shape;199;p29"/>
          <p:cNvSpPr txBox="1"/>
          <p:nvPr/>
        </p:nvSpPr>
        <p:spPr>
          <a:xfrm>
            <a:off x="771525" y="581025"/>
            <a:ext cx="11381422"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dirty="0">
                <a:solidFill>
                  <a:srgbClr val="F8FAFC"/>
                </a:solidFill>
                <a:latin typeface="Urbanist SemiBold"/>
                <a:ea typeface="Urbanist SemiBold"/>
                <a:cs typeface="Urbanist SemiBold"/>
                <a:sym typeface="Urbanist SemiBold"/>
              </a:rPr>
              <a:t>The "WHY": Mitigating Boot-Time Risks</a:t>
            </a:r>
            <a:endParaRPr dirty="0"/>
          </a:p>
        </p:txBody>
      </p:sp>
      <p:sp>
        <p:nvSpPr>
          <p:cNvPr id="200" name="Google Shape;200;p29"/>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04"/>
        <p:cNvGrpSpPr/>
        <p:nvPr/>
      </p:nvGrpSpPr>
      <p:grpSpPr>
        <a:xfrm>
          <a:off x="0" y="0"/>
          <a:ext cx="0" cy="0"/>
          <a:chOff x="0" y="0"/>
          <a:chExt cx="0" cy="0"/>
        </a:xfrm>
      </p:grpSpPr>
      <p:pic>
        <p:nvPicPr>
          <p:cNvPr id="205" name="Google Shape;205;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6" name="Google Shape;206;p30"/>
          <p:cNvSpPr txBox="1"/>
          <p:nvPr/>
        </p:nvSpPr>
        <p:spPr>
          <a:xfrm>
            <a:off x="581025" y="2995463"/>
            <a:ext cx="5324475"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0" b="1" i="0" u="none" strike="noStrike" cap="none" dirty="0">
                <a:solidFill>
                  <a:srgbClr val="0EA5E9"/>
                </a:solidFill>
                <a:latin typeface="Urbanist"/>
                <a:ea typeface="Urbanist"/>
                <a:cs typeface="Urbanist"/>
                <a:sym typeface="Urbanist"/>
              </a:rPr>
              <a:t>100%</a:t>
            </a:r>
            <a:endParaRPr dirty="0">
              <a:solidFill>
                <a:srgbClr val="0EA5E9"/>
              </a:solidFill>
            </a:endParaRPr>
          </a:p>
        </p:txBody>
      </p:sp>
      <p:sp>
        <p:nvSpPr>
          <p:cNvPr id="207" name="Google Shape;207;p30"/>
          <p:cNvSpPr txBox="1"/>
          <p:nvPr/>
        </p:nvSpPr>
        <p:spPr>
          <a:xfrm>
            <a:off x="581025" y="4424213"/>
            <a:ext cx="532447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F1F5F9"/>
                </a:solidFill>
                <a:latin typeface="Inter SemiBold"/>
                <a:ea typeface="Inter SemiBold"/>
                <a:cs typeface="Inter SemiBold"/>
                <a:sym typeface="Inter SemiBold"/>
              </a:rPr>
              <a:t>Signed Driver Enforcement</a:t>
            </a:r>
            <a:endParaRPr/>
          </a:p>
        </p:txBody>
      </p:sp>
      <p:sp>
        <p:nvSpPr>
          <p:cNvPr id="208" name="Google Shape;208;p30"/>
          <p:cNvSpPr txBox="1"/>
          <p:nvPr/>
        </p:nvSpPr>
        <p:spPr>
          <a:xfrm>
            <a:off x="6286500" y="2805261"/>
            <a:ext cx="5590698"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a:solidFill>
                  <a:srgbClr val="C3E18C"/>
                </a:solidFill>
                <a:latin typeface="Urbanist Medium"/>
                <a:ea typeface="Urbanist Medium"/>
                <a:cs typeface="Urbanist Medium"/>
                <a:sym typeface="Urbanist Medium"/>
              </a:rPr>
              <a:t>Zero Compromise</a:t>
            </a:r>
            <a:endParaRPr dirty="0">
              <a:solidFill>
                <a:srgbClr val="C3E18C"/>
              </a:solidFill>
            </a:endParaRPr>
          </a:p>
        </p:txBody>
      </p:sp>
      <p:sp>
        <p:nvSpPr>
          <p:cNvPr id="209" name="Google Shape;209;p30"/>
          <p:cNvSpPr txBox="1"/>
          <p:nvPr/>
        </p:nvSpPr>
        <p:spPr>
          <a:xfrm>
            <a:off x="6286500" y="3310086"/>
            <a:ext cx="5324475" cy="1447353"/>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CBD5E1"/>
                </a:solidFill>
                <a:latin typeface="Inter"/>
                <a:ea typeface="Inter"/>
                <a:cs typeface="Inter"/>
                <a:sym typeface="Inter"/>
              </a:rPr>
              <a:t>Once enabled, the hypervisor refuses to load any package that does not match the cryptographic signatures in the UEFI database. This provides absolute assurance that the kernel and drivers remain as the vendor intended, drastically reducing the attack surface of the physical host.</a:t>
            </a:r>
            <a:endParaRPr/>
          </a:p>
        </p:txBody>
      </p:sp>
      <p:sp>
        <p:nvSpPr>
          <p:cNvPr id="210" name="Google Shape;210;p30"/>
          <p:cNvSpPr txBox="1"/>
          <p:nvPr/>
        </p:nvSpPr>
        <p:spPr>
          <a:xfrm>
            <a:off x="771525" y="581025"/>
            <a:ext cx="11381422"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dirty="0">
                <a:solidFill>
                  <a:srgbClr val="F8FAFC"/>
                </a:solidFill>
                <a:latin typeface="Urbanist SemiBold"/>
                <a:ea typeface="Urbanist SemiBold"/>
                <a:cs typeface="Urbanist SemiBold"/>
                <a:sym typeface="Urbanist SemiBold"/>
              </a:rPr>
              <a:t>Secure Boot Impact</a:t>
            </a:r>
            <a:endParaRPr dirty="0"/>
          </a:p>
        </p:txBody>
      </p:sp>
      <p:sp>
        <p:nvSpPr>
          <p:cNvPr id="211" name="Google Shape;211;p30"/>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15"/>
        <p:cNvGrpSpPr/>
        <p:nvPr/>
      </p:nvGrpSpPr>
      <p:grpSpPr>
        <a:xfrm>
          <a:off x="0" y="0"/>
          <a:ext cx="0" cy="0"/>
          <a:chOff x="0" y="0"/>
          <a:chExt cx="0" cy="0"/>
        </a:xfrm>
      </p:grpSpPr>
      <p:pic>
        <p:nvPicPr>
          <p:cNvPr id="216" name="Google Shape;216;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7" name="Google Shape;217;p31"/>
          <p:cNvSpPr txBox="1"/>
          <p:nvPr/>
        </p:nvSpPr>
        <p:spPr>
          <a:xfrm>
            <a:off x="581025" y="5431631"/>
            <a:ext cx="11030100" cy="219300"/>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0" i="0" u="none" strike="noStrike" cap="none">
                <a:solidFill>
                  <a:srgbClr val="DAFFDE"/>
                </a:solidFill>
                <a:latin typeface="Inter"/>
                <a:ea typeface="Inter"/>
                <a:cs typeface="Inter"/>
                <a:sym typeface="Inter"/>
              </a:rPr>
              <a:t>A combination of UEFI Secure Boot and TPM 2.0 creates a non-bypassable hardware-backed security posture.</a:t>
            </a:r>
            <a:endParaRPr/>
          </a:p>
        </p:txBody>
      </p:sp>
      <p:pic>
        <p:nvPicPr>
          <p:cNvPr id="218" name="Google Shape;218;p31" descr="image.png"/>
          <p:cNvPicPr preferRelativeResize="0"/>
          <p:nvPr/>
        </p:nvPicPr>
        <p:blipFill rotWithShape="1">
          <a:blip r:embed="rId4">
            <a:alphaModFix/>
          </a:blip>
          <a:srcRect/>
          <a:stretch/>
        </p:blipFill>
        <p:spPr>
          <a:xfrm>
            <a:off x="581025" y="1907381"/>
            <a:ext cx="11029950" cy="3333750"/>
          </a:xfrm>
          <a:prstGeom prst="rect">
            <a:avLst/>
          </a:prstGeom>
          <a:noFill/>
          <a:ln>
            <a:noFill/>
          </a:ln>
        </p:spPr>
      </p:pic>
      <p:sp>
        <p:nvSpPr>
          <p:cNvPr id="219" name="Google Shape;219;p31"/>
          <p:cNvSpPr txBox="1"/>
          <p:nvPr/>
        </p:nvSpPr>
        <p:spPr>
          <a:xfrm>
            <a:off x="771525" y="581025"/>
            <a:ext cx="113814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dirty="0">
                <a:solidFill>
                  <a:schemeClr val="bg1"/>
                </a:solidFill>
                <a:latin typeface="Urbanist SemiBold"/>
                <a:ea typeface="Urbanist SemiBold"/>
                <a:cs typeface="Urbanist SemiBold"/>
                <a:sym typeface="Urbanist SemiBold"/>
              </a:rPr>
              <a:t>The Value of Hardware </a:t>
            </a:r>
            <a:r>
              <a:rPr lang="en-US" sz="3600" dirty="0">
                <a:solidFill>
                  <a:schemeClr val="bg1"/>
                </a:solidFill>
                <a:latin typeface="Urbanist SemiBold"/>
                <a:ea typeface="Urbanist SemiBold"/>
                <a:cs typeface="Urbanist SemiBold"/>
                <a:sym typeface="Urbanist SemiBold"/>
              </a:rPr>
              <a:t>ROOT</a:t>
            </a:r>
            <a:r>
              <a:rPr lang="en-US" sz="3600" b="0" i="0" u="none" strike="noStrike" cap="none" dirty="0">
                <a:solidFill>
                  <a:schemeClr val="bg1"/>
                </a:solidFill>
                <a:latin typeface="Urbanist SemiBold"/>
                <a:ea typeface="Urbanist SemiBold"/>
                <a:cs typeface="Urbanist SemiBold"/>
                <a:sym typeface="Urbanist SemiBold"/>
              </a:rPr>
              <a:t> of Trust</a:t>
            </a:r>
            <a:endParaRPr dirty="0">
              <a:solidFill>
                <a:schemeClr val="bg1"/>
              </a:solidFill>
            </a:endParaRPr>
          </a:p>
        </p:txBody>
      </p:sp>
      <p:sp>
        <p:nvSpPr>
          <p:cNvPr id="2" name="Google Shape;211;p30">
            <a:extLst>
              <a:ext uri="{FF2B5EF4-FFF2-40B4-BE49-F238E27FC236}">
                <a16:creationId xmlns:a16="http://schemas.microsoft.com/office/drawing/2014/main" id="{99AE8546-4643-55A3-FDE6-D08143B4FC21}"/>
              </a:ext>
            </a:extLst>
          </p:cNvPr>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24"/>
        <p:cNvGrpSpPr/>
        <p:nvPr/>
      </p:nvGrpSpPr>
      <p:grpSpPr>
        <a:xfrm>
          <a:off x="0" y="0"/>
          <a:ext cx="0" cy="0"/>
          <a:chOff x="0" y="0"/>
          <a:chExt cx="0" cy="0"/>
        </a:xfrm>
      </p:grpSpPr>
      <p:pic>
        <p:nvPicPr>
          <p:cNvPr id="225" name="Google Shape;225;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6" name="Google Shape;226;p32" descr="image.png"/>
          <p:cNvPicPr preferRelativeResize="0"/>
          <p:nvPr/>
        </p:nvPicPr>
        <p:blipFill rotWithShape="1">
          <a:blip r:embed="rId4">
            <a:alphaModFix/>
          </a:blip>
          <a:srcRect/>
          <a:stretch/>
        </p:blipFill>
        <p:spPr>
          <a:xfrm>
            <a:off x="581025" y="2183308"/>
            <a:ext cx="3486150" cy="3377207"/>
          </a:xfrm>
          <a:prstGeom prst="rect">
            <a:avLst/>
          </a:prstGeom>
          <a:noFill/>
          <a:ln>
            <a:noFill/>
          </a:ln>
        </p:spPr>
      </p:pic>
      <p:pic>
        <p:nvPicPr>
          <p:cNvPr id="227" name="Google Shape;227;p32" descr="image.png"/>
          <p:cNvPicPr preferRelativeResize="0"/>
          <p:nvPr/>
        </p:nvPicPr>
        <p:blipFill rotWithShape="1">
          <a:blip r:embed="rId5">
            <a:alphaModFix/>
          </a:blip>
          <a:srcRect/>
          <a:stretch/>
        </p:blipFill>
        <p:spPr>
          <a:xfrm>
            <a:off x="4352925" y="2183308"/>
            <a:ext cx="3486150" cy="3377207"/>
          </a:xfrm>
          <a:prstGeom prst="rect">
            <a:avLst/>
          </a:prstGeom>
          <a:noFill/>
          <a:ln>
            <a:noFill/>
          </a:ln>
        </p:spPr>
      </p:pic>
      <p:pic>
        <p:nvPicPr>
          <p:cNvPr id="228" name="Google Shape;228;p32" descr="image.png"/>
          <p:cNvPicPr preferRelativeResize="0"/>
          <p:nvPr/>
        </p:nvPicPr>
        <p:blipFill rotWithShape="1">
          <a:blip r:embed="rId6">
            <a:alphaModFix/>
          </a:blip>
          <a:srcRect/>
          <a:stretch/>
        </p:blipFill>
        <p:spPr>
          <a:xfrm>
            <a:off x="8124825" y="2183308"/>
            <a:ext cx="3486150" cy="3377207"/>
          </a:xfrm>
          <a:prstGeom prst="rect">
            <a:avLst/>
          </a:prstGeom>
          <a:noFill/>
          <a:ln>
            <a:noFill/>
          </a:ln>
        </p:spPr>
      </p:pic>
      <p:sp>
        <p:nvSpPr>
          <p:cNvPr id="229" name="Google Shape;229;p32"/>
          <p:cNvSpPr txBox="1"/>
          <p:nvPr/>
        </p:nvSpPr>
        <p:spPr>
          <a:xfrm>
            <a:off x="971550" y="3326308"/>
            <a:ext cx="284035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a:solidFill>
                  <a:srgbClr val="C3E18C"/>
                </a:solidFill>
                <a:latin typeface="Urbanist Medium"/>
                <a:ea typeface="Urbanist Medium"/>
                <a:cs typeface="Urbanist Medium"/>
                <a:sym typeface="Urbanist Medium"/>
              </a:rPr>
              <a:t>TPM 2.0</a:t>
            </a:r>
            <a:endParaRPr dirty="0">
              <a:solidFill>
                <a:srgbClr val="C3E18C"/>
              </a:solidFill>
            </a:endParaRPr>
          </a:p>
        </p:txBody>
      </p:sp>
      <p:sp>
        <p:nvSpPr>
          <p:cNvPr id="230" name="Google Shape;230;p32"/>
          <p:cNvSpPr txBox="1"/>
          <p:nvPr/>
        </p:nvSpPr>
        <p:spPr>
          <a:xfrm>
            <a:off x="971550" y="3831133"/>
            <a:ext cx="2705100"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CBD5E1"/>
                </a:solidFill>
                <a:latin typeface="Inter"/>
                <a:ea typeface="Inter"/>
                <a:cs typeface="Inter"/>
                <a:sym typeface="Inter"/>
              </a:rPr>
              <a:t>Highly recommended for hardware-based root of trust and attestation services in vCenter.</a:t>
            </a:r>
            <a:endParaRPr/>
          </a:p>
        </p:txBody>
      </p:sp>
      <p:sp>
        <p:nvSpPr>
          <p:cNvPr id="231" name="Google Shape;231;p32"/>
          <p:cNvSpPr txBox="1"/>
          <p:nvPr/>
        </p:nvSpPr>
        <p:spPr>
          <a:xfrm>
            <a:off x="4743450" y="3326308"/>
            <a:ext cx="284035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a:solidFill>
                  <a:srgbClr val="C3E18C"/>
                </a:solidFill>
                <a:latin typeface="Urbanist Medium"/>
                <a:ea typeface="Urbanist Medium"/>
                <a:cs typeface="Urbanist Medium"/>
                <a:sym typeface="Urbanist Medium"/>
              </a:rPr>
              <a:t>UEFI Support</a:t>
            </a:r>
            <a:endParaRPr dirty="0">
              <a:solidFill>
                <a:srgbClr val="C3E18C"/>
              </a:solidFill>
            </a:endParaRPr>
          </a:p>
        </p:txBody>
      </p:sp>
      <p:sp>
        <p:nvSpPr>
          <p:cNvPr id="232" name="Google Shape;232;p32"/>
          <p:cNvSpPr txBox="1"/>
          <p:nvPr/>
        </p:nvSpPr>
        <p:spPr>
          <a:xfrm>
            <a:off x="4743450" y="3831133"/>
            <a:ext cx="2705100"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CBD5E1"/>
                </a:solidFill>
                <a:latin typeface="Inter"/>
                <a:ea typeface="Inter"/>
                <a:cs typeface="Inter"/>
                <a:sym typeface="Inter"/>
              </a:rPr>
              <a:t>Server must be configured in UEFI mode. Legacy BIOS mode is incompatible with Secure Boot.</a:t>
            </a:r>
            <a:endParaRPr/>
          </a:p>
        </p:txBody>
      </p:sp>
      <p:sp>
        <p:nvSpPr>
          <p:cNvPr id="233" name="Google Shape;233;p32"/>
          <p:cNvSpPr txBox="1"/>
          <p:nvPr/>
        </p:nvSpPr>
        <p:spPr>
          <a:xfrm>
            <a:off x="8515350" y="3326308"/>
            <a:ext cx="284035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a:solidFill>
                  <a:srgbClr val="C3E18C"/>
                </a:solidFill>
                <a:latin typeface="Urbanist Medium"/>
                <a:ea typeface="Urbanist Medium"/>
                <a:cs typeface="Urbanist Medium"/>
                <a:sym typeface="Urbanist Medium"/>
              </a:rPr>
              <a:t>Signed VIBs</a:t>
            </a:r>
            <a:endParaRPr dirty="0">
              <a:solidFill>
                <a:srgbClr val="C3E18C"/>
              </a:solidFill>
            </a:endParaRPr>
          </a:p>
        </p:txBody>
      </p:sp>
      <p:sp>
        <p:nvSpPr>
          <p:cNvPr id="234" name="Google Shape;234;p32"/>
          <p:cNvSpPr txBox="1"/>
          <p:nvPr/>
        </p:nvSpPr>
        <p:spPr>
          <a:xfrm>
            <a:off x="8515350" y="3831133"/>
            <a:ext cx="2705100"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CBD5E1"/>
                </a:solidFill>
                <a:latin typeface="Inter"/>
                <a:ea typeface="Inter"/>
                <a:cs typeface="Inter"/>
                <a:sym typeface="Inter"/>
              </a:rPr>
              <a:t>All installed community-supported or custom drivers must be replaced with signed equivalents.</a:t>
            </a:r>
            <a:endParaRPr/>
          </a:p>
        </p:txBody>
      </p:sp>
      <p:pic>
        <p:nvPicPr>
          <p:cNvPr id="235" name="Google Shape;235;p32" descr="image.png"/>
          <p:cNvPicPr preferRelativeResize="0"/>
          <p:nvPr/>
        </p:nvPicPr>
        <p:blipFill rotWithShape="1">
          <a:blip r:embed="rId7">
            <a:alphaModFix/>
          </a:blip>
          <a:srcRect/>
          <a:stretch/>
        </p:blipFill>
        <p:spPr>
          <a:xfrm>
            <a:off x="971550" y="2621458"/>
            <a:ext cx="457200" cy="457200"/>
          </a:xfrm>
          <a:prstGeom prst="rect">
            <a:avLst/>
          </a:prstGeom>
          <a:noFill/>
          <a:ln>
            <a:noFill/>
          </a:ln>
        </p:spPr>
      </p:pic>
      <p:pic>
        <p:nvPicPr>
          <p:cNvPr id="236" name="Google Shape;236;p32" descr="image.png"/>
          <p:cNvPicPr preferRelativeResize="0"/>
          <p:nvPr/>
        </p:nvPicPr>
        <p:blipFill rotWithShape="1">
          <a:blip r:embed="rId8">
            <a:alphaModFix/>
          </a:blip>
          <a:srcRect/>
          <a:stretch/>
        </p:blipFill>
        <p:spPr>
          <a:xfrm>
            <a:off x="4743450" y="2621458"/>
            <a:ext cx="457200" cy="457200"/>
          </a:xfrm>
          <a:prstGeom prst="rect">
            <a:avLst/>
          </a:prstGeom>
          <a:noFill/>
          <a:ln>
            <a:noFill/>
          </a:ln>
        </p:spPr>
      </p:pic>
      <p:pic>
        <p:nvPicPr>
          <p:cNvPr id="237" name="Google Shape;237;p32" descr="image.png"/>
          <p:cNvPicPr preferRelativeResize="0"/>
          <p:nvPr/>
        </p:nvPicPr>
        <p:blipFill rotWithShape="1">
          <a:blip r:embed="rId9">
            <a:alphaModFix/>
          </a:blip>
          <a:srcRect/>
          <a:stretch/>
        </p:blipFill>
        <p:spPr>
          <a:xfrm>
            <a:off x="8515350" y="2621458"/>
            <a:ext cx="457200" cy="457200"/>
          </a:xfrm>
          <a:prstGeom prst="rect">
            <a:avLst/>
          </a:prstGeom>
          <a:noFill/>
          <a:ln>
            <a:noFill/>
          </a:ln>
        </p:spPr>
      </p:pic>
      <p:sp>
        <p:nvSpPr>
          <p:cNvPr id="238" name="Google Shape;238;p32"/>
          <p:cNvSpPr txBox="1"/>
          <p:nvPr/>
        </p:nvSpPr>
        <p:spPr>
          <a:xfrm>
            <a:off x="771525" y="581025"/>
            <a:ext cx="11381422"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dirty="0">
                <a:solidFill>
                  <a:srgbClr val="F8FAFC"/>
                </a:solidFill>
                <a:latin typeface="Urbanist SemiBold"/>
                <a:ea typeface="Urbanist SemiBold"/>
                <a:cs typeface="Urbanist SemiBold"/>
                <a:sym typeface="Urbanist SemiBold"/>
              </a:rPr>
              <a:t>Hardware Prerequisites</a:t>
            </a:r>
            <a:endParaRPr dirty="0"/>
          </a:p>
        </p:txBody>
      </p:sp>
      <p:sp>
        <p:nvSpPr>
          <p:cNvPr id="239" name="Google Shape;239;p32"/>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43"/>
        <p:cNvGrpSpPr/>
        <p:nvPr/>
      </p:nvGrpSpPr>
      <p:grpSpPr>
        <a:xfrm>
          <a:off x="0" y="0"/>
          <a:ext cx="0" cy="0"/>
          <a:chOff x="0" y="0"/>
          <a:chExt cx="0" cy="0"/>
        </a:xfrm>
      </p:grpSpPr>
      <p:pic>
        <p:nvPicPr>
          <p:cNvPr id="244" name="Google Shape;244;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5" name="Google Shape;245;p33" descr="image.png"/>
          <p:cNvPicPr preferRelativeResize="0"/>
          <p:nvPr/>
        </p:nvPicPr>
        <p:blipFill rotWithShape="1">
          <a:blip r:embed="rId4">
            <a:alphaModFix/>
          </a:blip>
          <a:srcRect/>
          <a:stretch/>
        </p:blipFill>
        <p:spPr>
          <a:xfrm>
            <a:off x="581025" y="1947862"/>
            <a:ext cx="3486150" cy="3895725"/>
          </a:xfrm>
          <a:prstGeom prst="rect">
            <a:avLst/>
          </a:prstGeom>
          <a:noFill/>
          <a:ln>
            <a:noFill/>
          </a:ln>
        </p:spPr>
      </p:pic>
      <p:pic>
        <p:nvPicPr>
          <p:cNvPr id="246" name="Google Shape;246;p33" descr="image.png"/>
          <p:cNvPicPr preferRelativeResize="0"/>
          <p:nvPr/>
        </p:nvPicPr>
        <p:blipFill rotWithShape="1">
          <a:blip r:embed="rId5">
            <a:alphaModFix/>
          </a:blip>
          <a:srcRect/>
          <a:stretch/>
        </p:blipFill>
        <p:spPr>
          <a:xfrm>
            <a:off x="4352925" y="1947862"/>
            <a:ext cx="3486150" cy="3895725"/>
          </a:xfrm>
          <a:prstGeom prst="rect">
            <a:avLst/>
          </a:prstGeom>
          <a:noFill/>
          <a:ln>
            <a:noFill/>
          </a:ln>
        </p:spPr>
      </p:pic>
      <p:pic>
        <p:nvPicPr>
          <p:cNvPr id="247" name="Google Shape;247;p33" descr="image.png"/>
          <p:cNvPicPr preferRelativeResize="0"/>
          <p:nvPr/>
        </p:nvPicPr>
        <p:blipFill rotWithShape="1">
          <a:blip r:embed="rId6">
            <a:alphaModFix/>
          </a:blip>
          <a:srcRect/>
          <a:stretch/>
        </p:blipFill>
        <p:spPr>
          <a:xfrm>
            <a:off x="8124825" y="1947862"/>
            <a:ext cx="3486150" cy="3895725"/>
          </a:xfrm>
          <a:prstGeom prst="rect">
            <a:avLst/>
          </a:prstGeom>
          <a:noFill/>
          <a:ln>
            <a:noFill/>
          </a:ln>
        </p:spPr>
      </p:pic>
      <p:sp>
        <p:nvSpPr>
          <p:cNvPr id="248" name="Google Shape;248;p33"/>
          <p:cNvSpPr txBox="1"/>
          <p:nvPr/>
        </p:nvSpPr>
        <p:spPr>
          <a:xfrm>
            <a:off x="971550" y="3138487"/>
            <a:ext cx="2840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a:solidFill>
                  <a:srgbClr val="A9B987"/>
                </a:solidFill>
                <a:latin typeface="Urbanist Medium"/>
                <a:ea typeface="Urbanist Medium"/>
                <a:cs typeface="Urbanist Medium"/>
                <a:sym typeface="Urbanist Medium"/>
              </a:rPr>
              <a:t>User Mode</a:t>
            </a:r>
            <a:endParaRPr dirty="0">
              <a:solidFill>
                <a:srgbClr val="A9B987"/>
              </a:solidFill>
            </a:endParaRPr>
          </a:p>
        </p:txBody>
      </p:sp>
      <p:sp>
        <p:nvSpPr>
          <p:cNvPr id="249" name="Google Shape;249;p33"/>
          <p:cNvSpPr txBox="1"/>
          <p:nvPr/>
        </p:nvSpPr>
        <p:spPr>
          <a:xfrm>
            <a:off x="971550" y="3643312"/>
            <a:ext cx="2705100" cy="18639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AFFDE"/>
                </a:solidFill>
                <a:latin typeface="Inter"/>
                <a:ea typeface="Inter"/>
                <a:cs typeface="Inter"/>
                <a:sym typeface="Inter"/>
              </a:rPr>
              <a:t>Platform Key (PK) is installed. Signature verification is performed on programmatic policy updates. Allows unauthenticated transitions between modes.</a:t>
            </a:r>
            <a:endParaRPr/>
          </a:p>
        </p:txBody>
      </p:sp>
      <p:sp>
        <p:nvSpPr>
          <p:cNvPr id="250" name="Google Shape;250;p33"/>
          <p:cNvSpPr txBox="1"/>
          <p:nvPr/>
        </p:nvSpPr>
        <p:spPr>
          <a:xfrm>
            <a:off x="4743450" y="3138487"/>
            <a:ext cx="2840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a:solidFill>
                  <a:srgbClr val="DEFF9A"/>
                </a:solidFill>
                <a:latin typeface="Urbanist Medium"/>
                <a:ea typeface="Urbanist Medium"/>
                <a:cs typeface="Urbanist Medium"/>
                <a:sym typeface="Urbanist Medium"/>
              </a:rPr>
              <a:t>Audit Mode</a:t>
            </a:r>
            <a:endParaRPr dirty="0"/>
          </a:p>
        </p:txBody>
      </p:sp>
      <p:sp>
        <p:nvSpPr>
          <p:cNvPr id="251" name="Google Shape;251;p33"/>
          <p:cNvSpPr txBox="1"/>
          <p:nvPr/>
        </p:nvSpPr>
        <p:spPr>
          <a:xfrm>
            <a:off x="4743450" y="3643312"/>
            <a:ext cx="2705100" cy="18639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AFFDE"/>
                </a:solidFill>
                <a:latin typeface="Inter"/>
                <a:ea typeface="Inter"/>
                <a:cs typeface="Inter"/>
                <a:sym typeface="Inter"/>
              </a:rPr>
              <a:t>No PK present. Logs results in Execution Information Table but executes images even if verification fails. Essential for identifying working sets of policy objects.</a:t>
            </a:r>
            <a:endParaRPr/>
          </a:p>
        </p:txBody>
      </p:sp>
      <p:sp>
        <p:nvSpPr>
          <p:cNvPr id="252" name="Google Shape;252;p33"/>
          <p:cNvSpPr txBox="1"/>
          <p:nvPr/>
        </p:nvSpPr>
        <p:spPr>
          <a:xfrm>
            <a:off x="8515350" y="3138487"/>
            <a:ext cx="2840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a:solidFill>
                  <a:srgbClr val="DEFF9A"/>
                </a:solidFill>
                <a:latin typeface="Urbanist Medium"/>
                <a:ea typeface="Urbanist Medium"/>
                <a:cs typeface="Urbanist Medium"/>
                <a:sym typeface="Urbanist Medium"/>
              </a:rPr>
              <a:t>Deployed Mode</a:t>
            </a:r>
            <a:endParaRPr dirty="0"/>
          </a:p>
        </p:txBody>
      </p:sp>
      <p:sp>
        <p:nvSpPr>
          <p:cNvPr id="253" name="Google Shape;253;p33"/>
          <p:cNvSpPr txBox="1"/>
          <p:nvPr/>
        </p:nvSpPr>
        <p:spPr>
          <a:xfrm>
            <a:off x="8515350" y="3643312"/>
            <a:ext cx="2705100" cy="18639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DAFFDE"/>
                </a:solidFill>
                <a:latin typeface="Inter"/>
                <a:ea typeface="Inter"/>
                <a:cs typeface="Inter"/>
                <a:sym typeface="Inter"/>
              </a:rPr>
              <a:t>Most Secure.</a:t>
            </a:r>
            <a:r>
              <a:rPr lang="en-US" sz="1425" b="0" i="0" u="none" strike="noStrike" cap="none">
                <a:solidFill>
                  <a:srgbClr val="DAFFDE"/>
                </a:solidFill>
                <a:latin typeface="Inter"/>
                <a:ea typeface="Inter"/>
                <a:cs typeface="Inter"/>
                <a:sym typeface="Inter"/>
              </a:rPr>
              <a:t> PK must be installed. Enforces strict signature verification and restricts programmatic mode transitions to protect boot integrity.</a:t>
            </a:r>
            <a:endParaRPr/>
          </a:p>
        </p:txBody>
      </p:sp>
      <p:pic>
        <p:nvPicPr>
          <p:cNvPr id="254" name="Google Shape;254;p33" descr="image.png"/>
          <p:cNvPicPr preferRelativeResize="0"/>
          <p:nvPr/>
        </p:nvPicPr>
        <p:blipFill rotWithShape="1">
          <a:blip r:embed="rId7">
            <a:alphaModFix/>
          </a:blip>
          <a:srcRect/>
          <a:stretch/>
        </p:blipFill>
        <p:spPr>
          <a:xfrm>
            <a:off x="971550" y="2386012"/>
            <a:ext cx="571500" cy="457200"/>
          </a:xfrm>
          <a:prstGeom prst="rect">
            <a:avLst/>
          </a:prstGeom>
          <a:noFill/>
          <a:ln>
            <a:noFill/>
          </a:ln>
        </p:spPr>
      </p:pic>
      <p:pic>
        <p:nvPicPr>
          <p:cNvPr id="255" name="Google Shape;255;p33" descr="image.png"/>
          <p:cNvPicPr preferRelativeResize="0"/>
          <p:nvPr/>
        </p:nvPicPr>
        <p:blipFill rotWithShape="1">
          <a:blip r:embed="rId8">
            <a:alphaModFix/>
          </a:blip>
          <a:srcRect/>
          <a:stretch/>
        </p:blipFill>
        <p:spPr>
          <a:xfrm>
            <a:off x="4743450" y="2386012"/>
            <a:ext cx="457200" cy="457200"/>
          </a:xfrm>
          <a:prstGeom prst="rect">
            <a:avLst/>
          </a:prstGeom>
          <a:noFill/>
          <a:ln>
            <a:noFill/>
          </a:ln>
        </p:spPr>
      </p:pic>
      <p:pic>
        <p:nvPicPr>
          <p:cNvPr id="256" name="Google Shape;256;p33" descr="image.png"/>
          <p:cNvPicPr preferRelativeResize="0"/>
          <p:nvPr/>
        </p:nvPicPr>
        <p:blipFill rotWithShape="1">
          <a:blip r:embed="rId9">
            <a:alphaModFix/>
          </a:blip>
          <a:srcRect/>
          <a:stretch/>
        </p:blipFill>
        <p:spPr>
          <a:xfrm>
            <a:off x="8515350" y="2386012"/>
            <a:ext cx="400050" cy="457200"/>
          </a:xfrm>
          <a:prstGeom prst="rect">
            <a:avLst/>
          </a:prstGeom>
          <a:noFill/>
          <a:ln>
            <a:noFill/>
          </a:ln>
        </p:spPr>
      </p:pic>
      <p:sp>
        <p:nvSpPr>
          <p:cNvPr id="257" name="Google Shape;257;p33"/>
          <p:cNvSpPr txBox="1"/>
          <p:nvPr/>
        </p:nvSpPr>
        <p:spPr>
          <a:xfrm>
            <a:off x="771525" y="581025"/>
            <a:ext cx="113814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dirty="0">
                <a:solidFill>
                  <a:schemeClr val="bg1"/>
                </a:solidFill>
                <a:latin typeface="Urbanist SemiBold"/>
                <a:ea typeface="Urbanist SemiBold"/>
                <a:cs typeface="Urbanist SemiBold"/>
                <a:sym typeface="Urbanist SemiBold"/>
              </a:rPr>
              <a:t>Dell Secure Boot </a:t>
            </a:r>
            <a:r>
              <a:rPr lang="en-US" sz="3600" dirty="0">
                <a:solidFill>
                  <a:schemeClr val="bg1"/>
                </a:solidFill>
                <a:latin typeface="Urbanist SemiBold"/>
                <a:ea typeface="Urbanist SemiBold"/>
                <a:cs typeface="Urbanist SemiBold"/>
                <a:sym typeface="Urbanist SemiBold"/>
              </a:rPr>
              <a:t>Operation</a:t>
            </a:r>
            <a:r>
              <a:rPr lang="en-US" sz="3600" b="0" i="0" u="none" strike="noStrike" cap="none" dirty="0">
                <a:solidFill>
                  <a:schemeClr val="bg1"/>
                </a:solidFill>
                <a:latin typeface="Urbanist SemiBold"/>
                <a:ea typeface="Urbanist SemiBold"/>
                <a:cs typeface="Urbanist SemiBold"/>
                <a:sym typeface="Urbanist SemiBold"/>
              </a:rPr>
              <a:t> Modes</a:t>
            </a:r>
            <a:endParaRPr dirty="0">
              <a:solidFill>
                <a:schemeClr val="bg1"/>
              </a:solidFill>
            </a:endParaRPr>
          </a:p>
        </p:txBody>
      </p:sp>
      <p:sp>
        <p:nvSpPr>
          <p:cNvPr id="2" name="Google Shape;239;p32">
            <a:extLst>
              <a:ext uri="{FF2B5EF4-FFF2-40B4-BE49-F238E27FC236}">
                <a16:creationId xmlns:a16="http://schemas.microsoft.com/office/drawing/2014/main" id="{121D0766-66B7-7120-CB8E-F68718D35097}"/>
              </a:ext>
            </a:extLst>
          </p:cNvPr>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62"/>
        <p:cNvGrpSpPr/>
        <p:nvPr/>
      </p:nvGrpSpPr>
      <p:grpSpPr>
        <a:xfrm>
          <a:off x="0" y="0"/>
          <a:ext cx="0" cy="0"/>
          <a:chOff x="0" y="0"/>
          <a:chExt cx="0" cy="0"/>
        </a:xfrm>
      </p:grpSpPr>
      <p:pic>
        <p:nvPicPr>
          <p:cNvPr id="263" name="Google Shape;263;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64" name="Google Shape;264;p34" descr="image.png"/>
          <p:cNvPicPr preferRelativeResize="0"/>
          <p:nvPr/>
        </p:nvPicPr>
        <p:blipFill rotWithShape="1">
          <a:blip r:embed="rId4">
            <a:alphaModFix/>
          </a:blip>
          <a:srcRect/>
          <a:stretch/>
        </p:blipFill>
        <p:spPr>
          <a:xfrm>
            <a:off x="6381750" y="1966763"/>
            <a:ext cx="5229225" cy="3810000"/>
          </a:xfrm>
          <a:prstGeom prst="rect">
            <a:avLst/>
          </a:prstGeom>
          <a:noFill/>
          <a:ln>
            <a:noFill/>
          </a:ln>
        </p:spPr>
      </p:pic>
      <p:sp>
        <p:nvSpPr>
          <p:cNvPr id="265" name="Google Shape;265;p34"/>
          <p:cNvSpPr txBox="1"/>
          <p:nvPr/>
        </p:nvSpPr>
        <p:spPr>
          <a:xfrm>
            <a:off x="1390650" y="2050107"/>
            <a:ext cx="44196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CBD5E1"/>
                </a:solidFill>
                <a:latin typeface="Inter"/>
                <a:ea typeface="Inter"/>
                <a:cs typeface="Inter"/>
                <a:sym typeface="Inter"/>
              </a:rPr>
              <a:t>BIOS Entry:</a:t>
            </a:r>
            <a:r>
              <a:rPr lang="en-US" sz="1425" b="0" i="0" u="none" strike="noStrike" cap="none">
                <a:solidFill>
                  <a:srgbClr val="CBD5E1"/>
                </a:solidFill>
                <a:latin typeface="Inter"/>
                <a:ea typeface="Inter"/>
                <a:cs typeface="Inter"/>
                <a:sym typeface="Inter"/>
              </a:rPr>
              <a:t> Press F2 during POST to enter System Setup.</a:t>
            </a:r>
            <a:endParaRPr/>
          </a:p>
        </p:txBody>
      </p:sp>
      <p:sp>
        <p:nvSpPr>
          <p:cNvPr id="266" name="Google Shape;266;p34"/>
          <p:cNvSpPr txBox="1"/>
          <p:nvPr/>
        </p:nvSpPr>
        <p:spPr>
          <a:xfrm>
            <a:off x="1390650" y="2867173"/>
            <a:ext cx="441960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CBD5E1"/>
                </a:solidFill>
                <a:latin typeface="Inter"/>
                <a:ea typeface="Inter"/>
                <a:cs typeface="Inter"/>
                <a:sym typeface="Inter"/>
              </a:rPr>
              <a:t>Boot Settings:</a:t>
            </a:r>
            <a:r>
              <a:rPr lang="en-US" sz="1425" b="0" i="0" u="none" strike="noStrike" cap="none">
                <a:solidFill>
                  <a:srgbClr val="CBD5E1"/>
                </a:solidFill>
                <a:latin typeface="Inter"/>
                <a:ea typeface="Inter"/>
                <a:cs typeface="Inter"/>
                <a:sym typeface="Inter"/>
              </a:rPr>
              <a:t> Set 'Boot Mode' to UEFI.</a:t>
            </a:r>
            <a:endParaRPr/>
          </a:p>
        </p:txBody>
      </p:sp>
      <p:sp>
        <p:nvSpPr>
          <p:cNvPr id="267" name="Google Shape;267;p34"/>
          <p:cNvSpPr txBox="1"/>
          <p:nvPr/>
        </p:nvSpPr>
        <p:spPr>
          <a:xfrm>
            <a:off x="1390650" y="3394769"/>
            <a:ext cx="44196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CBD5E1"/>
                </a:solidFill>
                <a:latin typeface="Inter"/>
                <a:ea typeface="Inter"/>
                <a:cs typeface="Inter"/>
                <a:sym typeface="Inter"/>
              </a:rPr>
              <a:t>Security Settings:</a:t>
            </a:r>
            <a:r>
              <a:rPr lang="en-US" sz="1425" b="0" i="0" u="none" strike="noStrike" cap="none">
                <a:solidFill>
                  <a:srgbClr val="CBD5E1"/>
                </a:solidFill>
                <a:latin typeface="Inter"/>
                <a:ea typeface="Inter"/>
                <a:cs typeface="Inter"/>
                <a:sym typeface="Inter"/>
              </a:rPr>
              <a:t> Navigate to System Security &gt; Secure Boot.</a:t>
            </a:r>
            <a:endParaRPr/>
          </a:p>
        </p:txBody>
      </p:sp>
      <p:sp>
        <p:nvSpPr>
          <p:cNvPr id="268" name="Google Shape;268;p34"/>
          <p:cNvSpPr txBox="1"/>
          <p:nvPr/>
        </p:nvSpPr>
        <p:spPr>
          <a:xfrm>
            <a:off x="1390650" y="4211835"/>
            <a:ext cx="44196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CBD5E1"/>
                </a:solidFill>
                <a:latin typeface="Inter"/>
                <a:ea typeface="Inter"/>
                <a:cs typeface="Inter"/>
                <a:sym typeface="Inter"/>
              </a:rPr>
              <a:t>Enable:</a:t>
            </a:r>
            <a:r>
              <a:rPr lang="en-US" sz="1425" b="0" i="0" u="none" strike="noStrike" cap="none">
                <a:solidFill>
                  <a:srgbClr val="CBD5E1"/>
                </a:solidFill>
                <a:latin typeface="Inter"/>
                <a:ea typeface="Inter"/>
                <a:cs typeface="Inter"/>
                <a:sym typeface="Inter"/>
              </a:rPr>
              <a:t> Set Secure Boot to 'Enabled' and Policy to 'Standard'.</a:t>
            </a:r>
            <a:endParaRPr/>
          </a:p>
        </p:txBody>
      </p:sp>
      <p:sp>
        <p:nvSpPr>
          <p:cNvPr id="269" name="Google Shape;269;p34"/>
          <p:cNvSpPr txBox="1"/>
          <p:nvPr/>
        </p:nvSpPr>
        <p:spPr>
          <a:xfrm>
            <a:off x="1390650" y="5028902"/>
            <a:ext cx="44196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CBD5E1"/>
                </a:solidFill>
                <a:latin typeface="Inter"/>
                <a:ea typeface="Inter"/>
                <a:cs typeface="Inter"/>
                <a:sym typeface="Inter"/>
              </a:rPr>
              <a:t>Remote Management:</a:t>
            </a:r>
            <a:r>
              <a:rPr lang="en-US" sz="1425" b="0" i="0" u="none" strike="noStrike" cap="none">
                <a:solidFill>
                  <a:srgbClr val="CBD5E1"/>
                </a:solidFill>
                <a:latin typeface="Inter"/>
                <a:ea typeface="Inter"/>
                <a:cs typeface="Inter"/>
                <a:sym typeface="Inter"/>
              </a:rPr>
              <a:t> Use iDRAC Configuration &gt; BIOS Settings for headless setup.</a:t>
            </a:r>
            <a:endParaRPr/>
          </a:p>
        </p:txBody>
      </p:sp>
      <p:pic>
        <p:nvPicPr>
          <p:cNvPr id="270" name="Google Shape;270;p34" descr="image.png"/>
          <p:cNvPicPr preferRelativeResize="0"/>
          <p:nvPr/>
        </p:nvPicPr>
        <p:blipFill rotWithShape="1">
          <a:blip r:embed="rId5">
            <a:alphaModFix/>
          </a:blip>
          <a:srcRect/>
          <a:stretch/>
        </p:blipFill>
        <p:spPr>
          <a:xfrm>
            <a:off x="962025" y="2088207"/>
            <a:ext cx="228600" cy="247650"/>
          </a:xfrm>
          <a:prstGeom prst="rect">
            <a:avLst/>
          </a:prstGeom>
          <a:noFill/>
          <a:ln>
            <a:noFill/>
          </a:ln>
        </p:spPr>
      </p:pic>
      <p:pic>
        <p:nvPicPr>
          <p:cNvPr id="271" name="Google Shape;271;p34" descr="image.png"/>
          <p:cNvPicPr preferRelativeResize="0"/>
          <p:nvPr/>
        </p:nvPicPr>
        <p:blipFill rotWithShape="1">
          <a:blip r:embed="rId5">
            <a:alphaModFix/>
          </a:blip>
          <a:srcRect/>
          <a:stretch/>
        </p:blipFill>
        <p:spPr>
          <a:xfrm>
            <a:off x="962025" y="2905273"/>
            <a:ext cx="228600" cy="247650"/>
          </a:xfrm>
          <a:prstGeom prst="rect">
            <a:avLst/>
          </a:prstGeom>
          <a:noFill/>
          <a:ln>
            <a:noFill/>
          </a:ln>
        </p:spPr>
      </p:pic>
      <p:pic>
        <p:nvPicPr>
          <p:cNvPr id="272" name="Google Shape;272;p34" descr="image.png"/>
          <p:cNvPicPr preferRelativeResize="0"/>
          <p:nvPr/>
        </p:nvPicPr>
        <p:blipFill rotWithShape="1">
          <a:blip r:embed="rId5">
            <a:alphaModFix/>
          </a:blip>
          <a:srcRect/>
          <a:stretch/>
        </p:blipFill>
        <p:spPr>
          <a:xfrm>
            <a:off x="962025" y="3432869"/>
            <a:ext cx="228600" cy="247650"/>
          </a:xfrm>
          <a:prstGeom prst="rect">
            <a:avLst/>
          </a:prstGeom>
          <a:noFill/>
          <a:ln>
            <a:noFill/>
          </a:ln>
        </p:spPr>
      </p:pic>
      <p:pic>
        <p:nvPicPr>
          <p:cNvPr id="273" name="Google Shape;273;p34" descr="image.png"/>
          <p:cNvPicPr preferRelativeResize="0"/>
          <p:nvPr/>
        </p:nvPicPr>
        <p:blipFill rotWithShape="1">
          <a:blip r:embed="rId5">
            <a:alphaModFix/>
          </a:blip>
          <a:srcRect/>
          <a:stretch/>
        </p:blipFill>
        <p:spPr>
          <a:xfrm>
            <a:off x="962025" y="4249935"/>
            <a:ext cx="228600" cy="247650"/>
          </a:xfrm>
          <a:prstGeom prst="rect">
            <a:avLst/>
          </a:prstGeom>
          <a:noFill/>
          <a:ln>
            <a:noFill/>
          </a:ln>
        </p:spPr>
      </p:pic>
      <p:pic>
        <p:nvPicPr>
          <p:cNvPr id="274" name="Google Shape;274;p34" descr="image.png"/>
          <p:cNvPicPr preferRelativeResize="0"/>
          <p:nvPr/>
        </p:nvPicPr>
        <p:blipFill rotWithShape="1">
          <a:blip r:embed="rId5">
            <a:alphaModFix/>
          </a:blip>
          <a:srcRect/>
          <a:stretch/>
        </p:blipFill>
        <p:spPr>
          <a:xfrm>
            <a:off x="962025" y="5067002"/>
            <a:ext cx="228600" cy="247650"/>
          </a:xfrm>
          <a:prstGeom prst="rect">
            <a:avLst/>
          </a:prstGeom>
          <a:noFill/>
          <a:ln>
            <a:noFill/>
          </a:ln>
        </p:spPr>
      </p:pic>
      <p:sp>
        <p:nvSpPr>
          <p:cNvPr id="275" name="Google Shape;275;p34"/>
          <p:cNvSpPr txBox="1"/>
          <p:nvPr/>
        </p:nvSpPr>
        <p:spPr>
          <a:xfrm>
            <a:off x="771525" y="581025"/>
            <a:ext cx="11381422"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dirty="0">
                <a:solidFill>
                  <a:srgbClr val="F8FAFC"/>
                </a:solidFill>
                <a:latin typeface="Urbanist SemiBold"/>
                <a:ea typeface="Urbanist SemiBold"/>
                <a:cs typeface="Urbanist SemiBold"/>
                <a:sym typeface="Urbanist SemiBold"/>
              </a:rPr>
              <a:t>Dell PowerEdge Configuration</a:t>
            </a:r>
            <a:endParaRPr dirty="0"/>
          </a:p>
        </p:txBody>
      </p:sp>
      <p:sp>
        <p:nvSpPr>
          <p:cNvPr id="276" name="Google Shape;276;p34"/>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77" name="Google Shape;277;p34"/>
          <p:cNvPicPr preferRelativeResize="0"/>
          <p:nvPr/>
        </p:nvPicPr>
        <p:blipFill>
          <a:blip r:embed="rId6">
            <a:alphaModFix/>
          </a:blip>
          <a:stretch>
            <a:fillRect/>
          </a:stretch>
        </p:blipFill>
        <p:spPr>
          <a:xfrm>
            <a:off x="6305400" y="1085850"/>
            <a:ext cx="5379489" cy="57498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81"/>
        <p:cNvGrpSpPr/>
        <p:nvPr/>
      </p:nvGrpSpPr>
      <p:grpSpPr>
        <a:xfrm>
          <a:off x="0" y="0"/>
          <a:ext cx="0" cy="0"/>
          <a:chOff x="0" y="0"/>
          <a:chExt cx="0" cy="0"/>
        </a:xfrm>
      </p:grpSpPr>
      <p:pic>
        <p:nvPicPr>
          <p:cNvPr id="282" name="Google Shape;282;p3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83" name="Google Shape;283;p35" descr="image.png"/>
          <p:cNvPicPr preferRelativeResize="0"/>
          <p:nvPr/>
        </p:nvPicPr>
        <p:blipFill rotWithShape="1">
          <a:blip r:embed="rId4">
            <a:alphaModFix/>
          </a:blip>
          <a:srcRect/>
          <a:stretch/>
        </p:blipFill>
        <p:spPr>
          <a:xfrm>
            <a:off x="6381750" y="1966763"/>
            <a:ext cx="5229225" cy="3810000"/>
          </a:xfrm>
          <a:prstGeom prst="rect">
            <a:avLst/>
          </a:prstGeom>
          <a:noFill/>
          <a:ln>
            <a:noFill/>
          </a:ln>
        </p:spPr>
      </p:pic>
      <p:sp>
        <p:nvSpPr>
          <p:cNvPr id="284" name="Google Shape;284;p35"/>
          <p:cNvSpPr txBox="1"/>
          <p:nvPr/>
        </p:nvSpPr>
        <p:spPr>
          <a:xfrm>
            <a:off x="1390650" y="2050107"/>
            <a:ext cx="44196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CBD5E1"/>
                </a:solidFill>
                <a:latin typeface="Inter"/>
                <a:ea typeface="Inter"/>
                <a:cs typeface="Inter"/>
                <a:sym typeface="Inter"/>
              </a:rPr>
              <a:t>CIMC/GUI:</a:t>
            </a:r>
            <a:r>
              <a:rPr lang="en-US" sz="1425" b="0" i="0" u="none" strike="noStrike" cap="none">
                <a:solidFill>
                  <a:srgbClr val="CBD5E1"/>
                </a:solidFill>
                <a:latin typeface="Inter"/>
                <a:ea typeface="Inter"/>
                <a:cs typeface="Inter"/>
                <a:sym typeface="Inter"/>
              </a:rPr>
              <a:t> Log in and navigate to the Compute &gt; BIOS tab.</a:t>
            </a:r>
            <a:endParaRPr/>
          </a:p>
        </p:txBody>
      </p:sp>
      <p:sp>
        <p:nvSpPr>
          <p:cNvPr id="285" name="Google Shape;285;p35"/>
          <p:cNvSpPr txBox="1"/>
          <p:nvPr/>
        </p:nvSpPr>
        <p:spPr>
          <a:xfrm>
            <a:off x="1390650" y="2867173"/>
            <a:ext cx="44196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CBD5E1"/>
                </a:solidFill>
                <a:latin typeface="Inter"/>
                <a:ea typeface="Inter"/>
                <a:cs typeface="Inter"/>
                <a:sym typeface="Inter"/>
              </a:rPr>
              <a:t>Boot Order:</a:t>
            </a:r>
            <a:r>
              <a:rPr lang="en-US" sz="1425" b="0" i="0" u="none" strike="noStrike" cap="none">
                <a:solidFill>
                  <a:srgbClr val="CBD5E1"/>
                </a:solidFill>
                <a:latin typeface="Inter"/>
                <a:ea typeface="Inter"/>
                <a:cs typeface="Inter"/>
                <a:sym typeface="Inter"/>
              </a:rPr>
              <a:t> Ensure the Boot Policy is set to UEFI mode.</a:t>
            </a:r>
            <a:endParaRPr/>
          </a:p>
        </p:txBody>
      </p:sp>
      <p:sp>
        <p:nvSpPr>
          <p:cNvPr id="286" name="Google Shape;286;p35"/>
          <p:cNvSpPr txBox="1"/>
          <p:nvPr/>
        </p:nvSpPr>
        <p:spPr>
          <a:xfrm>
            <a:off x="1390650" y="3684240"/>
            <a:ext cx="44196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CBD5E1"/>
                </a:solidFill>
                <a:latin typeface="Inter"/>
                <a:ea typeface="Inter"/>
                <a:cs typeface="Inter"/>
                <a:sym typeface="Inter"/>
              </a:rPr>
              <a:t>BIOS Options:</a:t>
            </a:r>
            <a:r>
              <a:rPr lang="en-US" sz="1425" b="0" i="0" u="none" strike="noStrike" cap="none">
                <a:solidFill>
                  <a:srgbClr val="CBD5E1"/>
                </a:solidFill>
                <a:latin typeface="Inter"/>
                <a:ea typeface="Inter"/>
                <a:cs typeface="Inter"/>
                <a:sym typeface="Inter"/>
              </a:rPr>
              <a:t> Navigate to Advanced &gt; Boot Options.</a:t>
            </a:r>
            <a:endParaRPr/>
          </a:p>
        </p:txBody>
      </p:sp>
      <p:sp>
        <p:nvSpPr>
          <p:cNvPr id="287" name="Google Shape;287;p35"/>
          <p:cNvSpPr txBox="1"/>
          <p:nvPr/>
        </p:nvSpPr>
        <p:spPr>
          <a:xfrm>
            <a:off x="1390650" y="4501306"/>
            <a:ext cx="441960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CBD5E1"/>
                </a:solidFill>
                <a:latin typeface="Inter"/>
                <a:ea typeface="Inter"/>
                <a:cs typeface="Inter"/>
                <a:sym typeface="Inter"/>
              </a:rPr>
              <a:t>Enabling:</a:t>
            </a:r>
            <a:r>
              <a:rPr lang="en-US" sz="1425" b="0" i="0" u="none" strike="noStrike" cap="none">
                <a:solidFill>
                  <a:srgbClr val="CBD5E1"/>
                </a:solidFill>
                <a:latin typeface="Inter"/>
                <a:ea typeface="Inter"/>
                <a:cs typeface="Inter"/>
                <a:sym typeface="Inter"/>
              </a:rPr>
              <a:t> Set 'UEFI Secure Boot' to Enabled.</a:t>
            </a:r>
            <a:endParaRPr/>
          </a:p>
        </p:txBody>
      </p:sp>
      <p:sp>
        <p:nvSpPr>
          <p:cNvPr id="288" name="Google Shape;288;p35"/>
          <p:cNvSpPr txBox="1"/>
          <p:nvPr/>
        </p:nvSpPr>
        <p:spPr>
          <a:xfrm>
            <a:off x="1390650" y="5028902"/>
            <a:ext cx="44196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CBD5E1"/>
                </a:solidFill>
                <a:latin typeface="Inter"/>
                <a:ea typeface="Inter"/>
                <a:cs typeface="Inter"/>
                <a:sym typeface="Inter"/>
              </a:rPr>
              <a:t>Deployment:</a:t>
            </a:r>
            <a:r>
              <a:rPr lang="en-US" sz="1425" b="0" i="0" u="none" strike="noStrike" cap="none">
                <a:solidFill>
                  <a:srgbClr val="CBD5E1"/>
                </a:solidFill>
                <a:latin typeface="Inter"/>
                <a:ea typeface="Inter"/>
                <a:cs typeface="Inter"/>
                <a:sym typeface="Inter"/>
              </a:rPr>
              <a:t> Re-associate the Service Profile to push settings to blades.</a:t>
            </a:r>
            <a:endParaRPr/>
          </a:p>
        </p:txBody>
      </p:sp>
      <p:pic>
        <p:nvPicPr>
          <p:cNvPr id="289" name="Google Shape;289;p35" descr="image.png"/>
          <p:cNvPicPr preferRelativeResize="0"/>
          <p:nvPr/>
        </p:nvPicPr>
        <p:blipFill rotWithShape="1">
          <a:blip r:embed="rId5">
            <a:alphaModFix/>
          </a:blip>
          <a:srcRect/>
          <a:stretch/>
        </p:blipFill>
        <p:spPr>
          <a:xfrm>
            <a:off x="962025" y="2088207"/>
            <a:ext cx="228600" cy="247650"/>
          </a:xfrm>
          <a:prstGeom prst="rect">
            <a:avLst/>
          </a:prstGeom>
          <a:noFill/>
          <a:ln>
            <a:noFill/>
          </a:ln>
        </p:spPr>
      </p:pic>
      <p:pic>
        <p:nvPicPr>
          <p:cNvPr id="290" name="Google Shape;290;p35" descr="image.png"/>
          <p:cNvPicPr preferRelativeResize="0"/>
          <p:nvPr/>
        </p:nvPicPr>
        <p:blipFill rotWithShape="1">
          <a:blip r:embed="rId5">
            <a:alphaModFix/>
          </a:blip>
          <a:srcRect/>
          <a:stretch/>
        </p:blipFill>
        <p:spPr>
          <a:xfrm>
            <a:off x="962025" y="2905273"/>
            <a:ext cx="228600" cy="247650"/>
          </a:xfrm>
          <a:prstGeom prst="rect">
            <a:avLst/>
          </a:prstGeom>
          <a:noFill/>
          <a:ln>
            <a:noFill/>
          </a:ln>
        </p:spPr>
      </p:pic>
      <p:pic>
        <p:nvPicPr>
          <p:cNvPr id="291" name="Google Shape;291;p35" descr="image.png"/>
          <p:cNvPicPr preferRelativeResize="0"/>
          <p:nvPr/>
        </p:nvPicPr>
        <p:blipFill rotWithShape="1">
          <a:blip r:embed="rId5">
            <a:alphaModFix/>
          </a:blip>
          <a:srcRect/>
          <a:stretch/>
        </p:blipFill>
        <p:spPr>
          <a:xfrm>
            <a:off x="962025" y="3722340"/>
            <a:ext cx="228600" cy="247650"/>
          </a:xfrm>
          <a:prstGeom prst="rect">
            <a:avLst/>
          </a:prstGeom>
          <a:noFill/>
          <a:ln>
            <a:noFill/>
          </a:ln>
        </p:spPr>
      </p:pic>
      <p:pic>
        <p:nvPicPr>
          <p:cNvPr id="292" name="Google Shape;292;p35" descr="image.png"/>
          <p:cNvPicPr preferRelativeResize="0"/>
          <p:nvPr/>
        </p:nvPicPr>
        <p:blipFill rotWithShape="1">
          <a:blip r:embed="rId5">
            <a:alphaModFix/>
          </a:blip>
          <a:srcRect/>
          <a:stretch/>
        </p:blipFill>
        <p:spPr>
          <a:xfrm>
            <a:off x="962025" y="4539406"/>
            <a:ext cx="228600" cy="247650"/>
          </a:xfrm>
          <a:prstGeom prst="rect">
            <a:avLst/>
          </a:prstGeom>
          <a:noFill/>
          <a:ln>
            <a:noFill/>
          </a:ln>
        </p:spPr>
      </p:pic>
      <p:pic>
        <p:nvPicPr>
          <p:cNvPr id="293" name="Google Shape;293;p35" descr="image.png"/>
          <p:cNvPicPr preferRelativeResize="0"/>
          <p:nvPr/>
        </p:nvPicPr>
        <p:blipFill rotWithShape="1">
          <a:blip r:embed="rId5">
            <a:alphaModFix/>
          </a:blip>
          <a:srcRect/>
          <a:stretch/>
        </p:blipFill>
        <p:spPr>
          <a:xfrm>
            <a:off x="962025" y="5067002"/>
            <a:ext cx="228600" cy="247650"/>
          </a:xfrm>
          <a:prstGeom prst="rect">
            <a:avLst/>
          </a:prstGeom>
          <a:noFill/>
          <a:ln>
            <a:noFill/>
          </a:ln>
        </p:spPr>
      </p:pic>
      <p:sp>
        <p:nvSpPr>
          <p:cNvPr id="294" name="Google Shape;294;p35"/>
          <p:cNvSpPr txBox="1"/>
          <p:nvPr/>
        </p:nvSpPr>
        <p:spPr>
          <a:xfrm>
            <a:off x="771525" y="581025"/>
            <a:ext cx="11381422"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dirty="0">
                <a:solidFill>
                  <a:srgbClr val="F8FAFC"/>
                </a:solidFill>
                <a:latin typeface="Urbanist SemiBold"/>
                <a:ea typeface="Urbanist SemiBold"/>
                <a:cs typeface="Urbanist SemiBold"/>
                <a:sym typeface="Urbanist SemiBold"/>
              </a:rPr>
              <a:t>Cisco UCS Configuration</a:t>
            </a:r>
            <a:endParaRPr dirty="0"/>
          </a:p>
        </p:txBody>
      </p:sp>
      <p:sp>
        <p:nvSpPr>
          <p:cNvPr id="295" name="Google Shape;295;p35"/>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96" name="Google Shape;296;p35"/>
          <p:cNvPicPr preferRelativeResize="0"/>
          <p:nvPr/>
        </p:nvPicPr>
        <p:blipFill>
          <a:blip r:embed="rId6">
            <a:alphaModFix/>
          </a:blip>
          <a:stretch>
            <a:fillRect/>
          </a:stretch>
        </p:blipFill>
        <p:spPr>
          <a:xfrm>
            <a:off x="6381750" y="1987825"/>
            <a:ext cx="5551025" cy="39454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300"/>
        <p:cNvGrpSpPr/>
        <p:nvPr/>
      </p:nvGrpSpPr>
      <p:grpSpPr>
        <a:xfrm>
          <a:off x="0" y="0"/>
          <a:ext cx="0" cy="0"/>
          <a:chOff x="0" y="0"/>
          <a:chExt cx="0" cy="0"/>
        </a:xfrm>
      </p:grpSpPr>
      <p:pic>
        <p:nvPicPr>
          <p:cNvPr id="301" name="Google Shape;301;p36"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302" name="Google Shape;302;p36"/>
          <p:cNvGraphicFramePr/>
          <p:nvPr>
            <p:extLst>
              <p:ext uri="{D42A27DB-BD31-4B8C-83A1-F6EECF244321}">
                <p14:modId xmlns:p14="http://schemas.microsoft.com/office/powerpoint/2010/main" val="1333961300"/>
              </p:ext>
            </p:extLst>
          </p:nvPr>
        </p:nvGraphicFramePr>
        <p:xfrm>
          <a:off x="581025" y="2471737"/>
          <a:ext cx="11029975" cy="2800375"/>
        </p:xfrm>
        <a:graphic>
          <a:graphicData uri="http://schemas.openxmlformats.org/drawingml/2006/table">
            <a:tbl>
              <a:tblPr firstRow="1" bandRow="1">
                <a:noFill/>
                <a:tableStyleId>{C2BF1B7A-93A2-43A1-84C7-DEBE686D2207}</a:tableStyleId>
              </a:tblPr>
              <a:tblGrid>
                <a:gridCol w="2556425">
                  <a:extLst>
                    <a:ext uri="{9D8B030D-6E8A-4147-A177-3AD203B41FA5}">
                      <a16:colId xmlns:a16="http://schemas.microsoft.com/office/drawing/2014/main" val="20000"/>
                    </a:ext>
                  </a:extLst>
                </a:gridCol>
                <a:gridCol w="2306100">
                  <a:extLst>
                    <a:ext uri="{9D8B030D-6E8A-4147-A177-3AD203B41FA5}">
                      <a16:colId xmlns:a16="http://schemas.microsoft.com/office/drawing/2014/main" val="20001"/>
                    </a:ext>
                  </a:extLst>
                </a:gridCol>
                <a:gridCol w="2740975">
                  <a:extLst>
                    <a:ext uri="{9D8B030D-6E8A-4147-A177-3AD203B41FA5}">
                      <a16:colId xmlns:a16="http://schemas.microsoft.com/office/drawing/2014/main" val="20002"/>
                    </a:ext>
                  </a:extLst>
                </a:gridCol>
                <a:gridCol w="3426475">
                  <a:extLst>
                    <a:ext uri="{9D8B030D-6E8A-4147-A177-3AD203B41FA5}">
                      <a16:colId xmlns:a16="http://schemas.microsoft.com/office/drawing/2014/main" val="20003"/>
                    </a:ext>
                  </a:extLst>
                </a:gridCol>
              </a:tblGrid>
              <a:tr h="560075">
                <a:tc>
                  <a:txBody>
                    <a:bodyPr/>
                    <a:lstStyle/>
                    <a:p>
                      <a:pPr marL="0" marR="0" lvl="0" indent="0" algn="l" rtl="0">
                        <a:spcBef>
                          <a:spcPts val="0"/>
                        </a:spcBef>
                        <a:spcAft>
                          <a:spcPts val="0"/>
                        </a:spcAft>
                        <a:buNone/>
                      </a:pPr>
                      <a:r>
                        <a:rPr lang="en-US" sz="1500" b="1" i="0" u="none" strike="noStrike" cap="none" dirty="0">
                          <a:solidFill>
                            <a:srgbClr val="C3E18C"/>
                          </a:solidFill>
                          <a:latin typeface="Inter"/>
                          <a:ea typeface="Inter"/>
                          <a:cs typeface="Inter"/>
                          <a:sym typeface="Inter"/>
                        </a:rPr>
                        <a:t>Feature</a:t>
                      </a:r>
                      <a:endParaRPr dirty="0">
                        <a:solidFill>
                          <a:srgbClr val="C3E18C"/>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500" b="1" i="0" u="none" strike="noStrike" cap="none" dirty="0">
                          <a:solidFill>
                            <a:srgbClr val="C3E18C"/>
                          </a:solidFill>
                          <a:latin typeface="Inter"/>
                          <a:ea typeface="Inter"/>
                          <a:cs typeface="Inter"/>
                          <a:sym typeface="Inter"/>
                        </a:rPr>
                        <a:t>Standard Boot</a:t>
                      </a:r>
                      <a:endParaRPr dirty="0">
                        <a:solidFill>
                          <a:srgbClr val="C3E18C"/>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500" b="1" i="0" u="none" strike="noStrike" cap="none" dirty="0">
                          <a:solidFill>
                            <a:srgbClr val="C3E18C"/>
                          </a:solidFill>
                          <a:latin typeface="Inter"/>
                          <a:ea typeface="Inter"/>
                          <a:cs typeface="Inter"/>
                          <a:sym typeface="Inter"/>
                        </a:rPr>
                        <a:t>UEFI Secure Boot</a:t>
                      </a:r>
                      <a:endParaRPr dirty="0">
                        <a:solidFill>
                          <a:srgbClr val="C3E18C"/>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500" b="1" i="0" u="none" strike="noStrike" cap="none" dirty="0">
                          <a:solidFill>
                            <a:srgbClr val="C3E18C"/>
                          </a:solidFill>
                          <a:latin typeface="Inter"/>
                          <a:ea typeface="Inter"/>
                          <a:cs typeface="Inter"/>
                          <a:sym typeface="Inter"/>
                        </a:rPr>
                        <a:t>Secure Boot + TPM 2.0</a:t>
                      </a:r>
                      <a:endParaRPr dirty="0">
                        <a:solidFill>
                          <a:srgbClr val="C3E18C"/>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560075">
                <a:tc>
                  <a:txBody>
                    <a:bodyPr/>
                    <a:lstStyle/>
                    <a:p>
                      <a:pPr marL="0" marR="0" lvl="0" indent="0" algn="l" rtl="0">
                        <a:spcBef>
                          <a:spcPts val="0"/>
                        </a:spcBef>
                        <a:spcAft>
                          <a:spcPts val="0"/>
                        </a:spcAft>
                        <a:buNone/>
                      </a:pPr>
                      <a:r>
                        <a:rPr lang="en-US" sz="1200" b="0" i="0" u="none" strike="noStrike" cap="none">
                          <a:latin typeface="Inter"/>
                          <a:ea typeface="Inter"/>
                          <a:cs typeface="Inter"/>
                          <a:sym typeface="Inter"/>
                        </a:rPr>
                        <a:t>Rootkit Prevention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US" sz="1200">
                          <a:latin typeface="Inter"/>
                          <a:ea typeface="Inter"/>
                          <a:cs typeface="Inter"/>
                          <a:sym typeface="Inter"/>
                        </a:rPr>
                        <a:t>No</a:t>
                      </a:r>
                      <a:endParaRPr sz="1200">
                        <a:highlight>
                          <a:schemeClr val="lt1"/>
                        </a:highlight>
                        <a:latin typeface="Inter"/>
                        <a:ea typeface="Inter"/>
                        <a:cs typeface="Inter"/>
                        <a:sym typeface="Inte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latin typeface="Inter"/>
                          <a:ea typeface="Inter"/>
                          <a:cs typeface="Inter"/>
                          <a:sym typeface="Inter"/>
                        </a:rPr>
                        <a:t>Yes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latin typeface="Inter"/>
                          <a:ea typeface="Inter"/>
                          <a:cs typeface="Inter"/>
                          <a:sym typeface="Inter"/>
                        </a:rPr>
                        <a:t>Yes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60075">
                <a:tc>
                  <a:txBody>
                    <a:bodyPr/>
                    <a:lstStyle/>
                    <a:p>
                      <a:pPr marL="0" marR="0" lvl="0" indent="0" algn="l" rtl="0">
                        <a:spcBef>
                          <a:spcPts val="0"/>
                        </a:spcBef>
                        <a:spcAft>
                          <a:spcPts val="0"/>
                        </a:spcAft>
                        <a:buNone/>
                      </a:pPr>
                      <a:r>
                        <a:rPr lang="en-US" sz="1200" b="0" i="0" u="none" strike="noStrike" cap="none">
                          <a:latin typeface="Inter"/>
                          <a:ea typeface="Inter"/>
                          <a:cs typeface="Inter"/>
                          <a:sym typeface="Inter"/>
                        </a:rPr>
                        <a:t>VIB Signature Check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latin typeface="Inter"/>
                          <a:ea typeface="Inter"/>
                          <a:cs typeface="Inter"/>
                          <a:sym typeface="Inter"/>
                        </a:rPr>
                        <a:t>No</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latin typeface="Inter"/>
                          <a:ea typeface="Inter"/>
                          <a:cs typeface="Inter"/>
                          <a:sym typeface="Inter"/>
                        </a:rPr>
                        <a:t>Yes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latin typeface="Inter"/>
                          <a:ea typeface="Inter"/>
                          <a:cs typeface="Inter"/>
                          <a:sym typeface="Inter"/>
                        </a:rPr>
                        <a:t>Yes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60075">
                <a:tc>
                  <a:txBody>
                    <a:bodyPr/>
                    <a:lstStyle/>
                    <a:p>
                      <a:pPr marL="0" marR="0" lvl="0" indent="0" algn="l" rtl="0">
                        <a:spcBef>
                          <a:spcPts val="0"/>
                        </a:spcBef>
                        <a:spcAft>
                          <a:spcPts val="0"/>
                        </a:spcAft>
                        <a:buNone/>
                      </a:pPr>
                      <a:r>
                        <a:rPr lang="en-US" sz="1200" b="0" i="0" u="none" strike="noStrike" cap="none">
                          <a:latin typeface="Inter"/>
                          <a:ea typeface="Inter"/>
                          <a:cs typeface="Inter"/>
                          <a:sym typeface="Inter"/>
                        </a:rPr>
                        <a:t>Remote Attestation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latin typeface="Inter"/>
                          <a:ea typeface="Inter"/>
                          <a:cs typeface="Inter"/>
                          <a:sym typeface="Inter"/>
                        </a:rPr>
                        <a:t>No</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l" rtl="0">
                        <a:spcBef>
                          <a:spcPts val="0"/>
                        </a:spcBef>
                        <a:spcAft>
                          <a:spcPts val="0"/>
                        </a:spcAft>
                        <a:buClr>
                          <a:schemeClr val="dk1"/>
                        </a:buClr>
                        <a:buFont typeface="Arial"/>
                        <a:buNone/>
                      </a:pPr>
                      <a:r>
                        <a:rPr lang="en-US" sz="1200">
                          <a:latin typeface="Inter"/>
                          <a:ea typeface="Inter"/>
                          <a:cs typeface="Inter"/>
                          <a:sym typeface="Inter"/>
                        </a:rPr>
                        <a:t>No</a:t>
                      </a:r>
                      <a:endParaRPr>
                        <a:highlight>
                          <a:schemeClr val="lt1"/>
                        </a:highlight>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latin typeface="Inter"/>
                          <a:ea typeface="Inter"/>
                          <a:cs typeface="Inter"/>
                          <a:sym typeface="Inter"/>
                        </a:rPr>
                        <a:t>Yes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60075">
                <a:tc>
                  <a:txBody>
                    <a:bodyPr/>
                    <a:lstStyle/>
                    <a:p>
                      <a:pPr marL="0" marR="0" lvl="0" indent="0" algn="l" rtl="0">
                        <a:spcBef>
                          <a:spcPts val="0"/>
                        </a:spcBef>
                        <a:spcAft>
                          <a:spcPts val="0"/>
                        </a:spcAft>
                        <a:buNone/>
                      </a:pPr>
                      <a:r>
                        <a:rPr lang="en-US" sz="1200" b="0" i="0" u="none" strike="noStrike" cap="none">
                          <a:latin typeface="Inter"/>
                          <a:ea typeface="Inter"/>
                          <a:cs typeface="Inter"/>
                          <a:sym typeface="Inter"/>
                        </a:rPr>
                        <a:t>Root of Trust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latin typeface="Inter"/>
                          <a:ea typeface="Inter"/>
                          <a:cs typeface="Inter"/>
                          <a:sym typeface="Inter"/>
                        </a:rPr>
                        <a:t>None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highlight>
                            <a:schemeClr val="lt1"/>
                          </a:highlight>
                          <a:latin typeface="Inter"/>
                          <a:ea typeface="Inter"/>
                          <a:cs typeface="Inter"/>
                          <a:sym typeface="Inter"/>
                        </a:rPr>
                        <a:t>Software (UEFI)</a:t>
                      </a:r>
                      <a:endParaRPr>
                        <a:highlight>
                          <a:schemeClr val="lt1"/>
                        </a:highlight>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a:latin typeface="Inter"/>
                          <a:ea typeface="Inter"/>
                          <a:cs typeface="Inter"/>
                          <a:sym typeface="Inter"/>
                        </a:rPr>
                        <a:t>Hardware (TPM)</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03" name="Google Shape;303;p36"/>
          <p:cNvSpPr/>
          <p:nvPr/>
        </p:nvSpPr>
        <p:spPr>
          <a:xfrm>
            <a:off x="581025" y="3081337"/>
            <a:ext cx="255642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4" name="Google Shape;304;p36"/>
          <p:cNvSpPr/>
          <p:nvPr/>
        </p:nvSpPr>
        <p:spPr>
          <a:xfrm>
            <a:off x="3137445" y="3081337"/>
            <a:ext cx="2306091"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5" name="Google Shape;305;p36"/>
          <p:cNvSpPr/>
          <p:nvPr/>
        </p:nvSpPr>
        <p:spPr>
          <a:xfrm>
            <a:off x="5443537" y="3081337"/>
            <a:ext cx="2740967"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6" name="Google Shape;306;p36"/>
          <p:cNvSpPr/>
          <p:nvPr/>
        </p:nvSpPr>
        <p:spPr>
          <a:xfrm>
            <a:off x="8184505" y="3081337"/>
            <a:ext cx="3426469"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7" name="Google Shape;307;p36"/>
          <p:cNvSpPr/>
          <p:nvPr/>
        </p:nvSpPr>
        <p:spPr>
          <a:xfrm>
            <a:off x="581025" y="3633787"/>
            <a:ext cx="255642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8" name="Google Shape;308;p36"/>
          <p:cNvSpPr/>
          <p:nvPr/>
        </p:nvSpPr>
        <p:spPr>
          <a:xfrm>
            <a:off x="3137445" y="3633787"/>
            <a:ext cx="2306091"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9" name="Google Shape;309;p36"/>
          <p:cNvSpPr/>
          <p:nvPr/>
        </p:nvSpPr>
        <p:spPr>
          <a:xfrm>
            <a:off x="5443537" y="3633787"/>
            <a:ext cx="2740967"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0" name="Google Shape;310;p36"/>
          <p:cNvSpPr/>
          <p:nvPr/>
        </p:nvSpPr>
        <p:spPr>
          <a:xfrm>
            <a:off x="8184505" y="3633787"/>
            <a:ext cx="342646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1" name="Google Shape;311;p36"/>
          <p:cNvSpPr/>
          <p:nvPr/>
        </p:nvSpPr>
        <p:spPr>
          <a:xfrm>
            <a:off x="581025" y="4176712"/>
            <a:ext cx="255642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2" name="Google Shape;312;p36"/>
          <p:cNvSpPr/>
          <p:nvPr/>
        </p:nvSpPr>
        <p:spPr>
          <a:xfrm>
            <a:off x="3137445" y="4176712"/>
            <a:ext cx="2306091"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3" name="Google Shape;313;p36"/>
          <p:cNvSpPr/>
          <p:nvPr/>
        </p:nvSpPr>
        <p:spPr>
          <a:xfrm>
            <a:off x="5443537" y="4176712"/>
            <a:ext cx="2740967"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4" name="Google Shape;314;p36"/>
          <p:cNvSpPr/>
          <p:nvPr/>
        </p:nvSpPr>
        <p:spPr>
          <a:xfrm>
            <a:off x="8184505" y="4176712"/>
            <a:ext cx="342646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5" name="Google Shape;315;p36"/>
          <p:cNvSpPr/>
          <p:nvPr/>
        </p:nvSpPr>
        <p:spPr>
          <a:xfrm>
            <a:off x="581025" y="4719637"/>
            <a:ext cx="255642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6" name="Google Shape;316;p36"/>
          <p:cNvSpPr/>
          <p:nvPr/>
        </p:nvSpPr>
        <p:spPr>
          <a:xfrm>
            <a:off x="3137445" y="4719637"/>
            <a:ext cx="2306091"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7" name="Google Shape;317;p36"/>
          <p:cNvSpPr/>
          <p:nvPr/>
        </p:nvSpPr>
        <p:spPr>
          <a:xfrm>
            <a:off x="5443537" y="4719637"/>
            <a:ext cx="2740967"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8" name="Google Shape;318;p36"/>
          <p:cNvSpPr/>
          <p:nvPr/>
        </p:nvSpPr>
        <p:spPr>
          <a:xfrm>
            <a:off x="8184505" y="4719637"/>
            <a:ext cx="342646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9" name="Google Shape;319;p36"/>
          <p:cNvSpPr/>
          <p:nvPr/>
        </p:nvSpPr>
        <p:spPr>
          <a:xfrm>
            <a:off x="581025" y="5262562"/>
            <a:ext cx="255642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0" name="Google Shape;320;p36"/>
          <p:cNvSpPr/>
          <p:nvPr/>
        </p:nvSpPr>
        <p:spPr>
          <a:xfrm>
            <a:off x="3137445" y="5262562"/>
            <a:ext cx="2306091"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1" name="Google Shape;321;p36"/>
          <p:cNvSpPr/>
          <p:nvPr/>
        </p:nvSpPr>
        <p:spPr>
          <a:xfrm>
            <a:off x="5443537" y="5262562"/>
            <a:ext cx="2740967"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2" name="Google Shape;322;p36"/>
          <p:cNvSpPr/>
          <p:nvPr/>
        </p:nvSpPr>
        <p:spPr>
          <a:xfrm>
            <a:off x="8184505" y="5262562"/>
            <a:ext cx="342646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3" name="Google Shape;323;p36"/>
          <p:cNvSpPr txBox="1"/>
          <p:nvPr/>
        </p:nvSpPr>
        <p:spPr>
          <a:xfrm>
            <a:off x="771525" y="581025"/>
            <a:ext cx="11381422"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dirty="0">
                <a:solidFill>
                  <a:srgbClr val="F8FAFC"/>
                </a:solidFill>
                <a:latin typeface="Urbanist SemiBold"/>
                <a:ea typeface="Urbanist SemiBold"/>
                <a:cs typeface="Urbanist SemiBold"/>
                <a:sym typeface="Urbanist SemiBold"/>
              </a:rPr>
              <a:t>Security Feature Matrix</a:t>
            </a:r>
            <a:endParaRPr dirty="0"/>
          </a:p>
        </p:txBody>
      </p:sp>
      <p:sp>
        <p:nvSpPr>
          <p:cNvPr id="324" name="Google Shape;324;p36"/>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328"/>
        <p:cNvGrpSpPr/>
        <p:nvPr/>
      </p:nvGrpSpPr>
      <p:grpSpPr>
        <a:xfrm>
          <a:off x="0" y="0"/>
          <a:ext cx="0" cy="0"/>
          <a:chOff x="0" y="0"/>
          <a:chExt cx="0" cy="0"/>
        </a:xfrm>
      </p:grpSpPr>
      <p:pic>
        <p:nvPicPr>
          <p:cNvPr id="329" name="Google Shape;329;p3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0" name="Google Shape;330;p37"/>
          <p:cNvSpPr txBox="1"/>
          <p:nvPr/>
        </p:nvSpPr>
        <p:spPr>
          <a:xfrm>
            <a:off x="305276" y="2914650"/>
            <a:ext cx="11581500" cy="692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8FAFC"/>
                </a:solidFill>
                <a:latin typeface="Urbanist"/>
                <a:ea typeface="Urbanist"/>
                <a:cs typeface="Urbanist"/>
                <a:sym typeface="Urbanist"/>
              </a:rPr>
              <a:t>Compliance Standards</a:t>
            </a:r>
            <a:endParaRPr/>
          </a:p>
        </p:txBody>
      </p:sp>
      <p:sp>
        <p:nvSpPr>
          <p:cNvPr id="331" name="Google Shape;331;p37"/>
          <p:cNvSpPr txBox="1"/>
          <p:nvPr/>
        </p:nvSpPr>
        <p:spPr>
          <a:xfrm>
            <a:off x="3776662" y="3600450"/>
            <a:ext cx="4638600" cy="27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94A3B8"/>
                </a:solidFill>
                <a:latin typeface="Inter"/>
                <a:ea typeface="Inter"/>
                <a:cs typeface="Inter"/>
                <a:sym typeface="Inter"/>
              </a:rPr>
              <a:t>Implementing Control ID: VMW-ESXI-01125</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335"/>
        <p:cNvGrpSpPr/>
        <p:nvPr/>
      </p:nvGrpSpPr>
      <p:grpSpPr>
        <a:xfrm>
          <a:off x="0" y="0"/>
          <a:ext cx="0" cy="0"/>
          <a:chOff x="0" y="0"/>
          <a:chExt cx="0" cy="0"/>
        </a:xfrm>
      </p:grpSpPr>
      <p:pic>
        <p:nvPicPr>
          <p:cNvPr id="336" name="Google Shape;336;p3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7" name="Google Shape;337;p38"/>
          <p:cNvSpPr/>
          <p:nvPr/>
        </p:nvSpPr>
        <p:spPr>
          <a:xfrm>
            <a:off x="581025" y="2552700"/>
            <a:ext cx="11030100" cy="2686200"/>
          </a:xfrm>
          <a:prstGeom prst="roundRect">
            <a:avLst>
              <a:gd name="adj" fmla="val 0"/>
            </a:avLst>
          </a:prstGeom>
          <a:solidFill>
            <a:srgbClr val="0F172A"/>
          </a:solidFill>
          <a:ln w="9525" cap="flat" cmpd="sng">
            <a:solidFill>
              <a:srgbClr val="4A7DB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338" name="Google Shape;338;p38"/>
          <p:cNvGraphicFramePr/>
          <p:nvPr>
            <p:extLst>
              <p:ext uri="{D42A27DB-BD31-4B8C-83A1-F6EECF244321}">
                <p14:modId xmlns:p14="http://schemas.microsoft.com/office/powerpoint/2010/main" val="319542217"/>
              </p:ext>
            </p:extLst>
          </p:nvPr>
        </p:nvGraphicFramePr>
        <p:xfrm>
          <a:off x="581025" y="2552700"/>
          <a:ext cx="11029950" cy="2686025"/>
        </p:xfrm>
        <a:graphic>
          <a:graphicData uri="http://schemas.openxmlformats.org/drawingml/2006/table">
            <a:tbl>
              <a:tblPr firstRow="1" bandRow="1">
                <a:noFill/>
                <a:tableStyleId>{C2BF1B7A-93A2-43A1-84C7-DEBE686D2207}</a:tableStyleId>
              </a:tblPr>
              <a:tblGrid>
                <a:gridCol w="1762725">
                  <a:extLst>
                    <a:ext uri="{9D8B030D-6E8A-4147-A177-3AD203B41FA5}">
                      <a16:colId xmlns:a16="http://schemas.microsoft.com/office/drawing/2014/main" val="20000"/>
                    </a:ext>
                  </a:extLst>
                </a:gridCol>
                <a:gridCol w="3939325">
                  <a:extLst>
                    <a:ext uri="{9D8B030D-6E8A-4147-A177-3AD203B41FA5}">
                      <a16:colId xmlns:a16="http://schemas.microsoft.com/office/drawing/2014/main" val="20001"/>
                    </a:ext>
                  </a:extLst>
                </a:gridCol>
                <a:gridCol w="5327900">
                  <a:extLst>
                    <a:ext uri="{9D8B030D-6E8A-4147-A177-3AD203B41FA5}">
                      <a16:colId xmlns:a16="http://schemas.microsoft.com/office/drawing/2014/main" val="20002"/>
                    </a:ext>
                  </a:extLst>
                </a:gridCol>
              </a:tblGrid>
              <a:tr h="671500">
                <a:tc>
                  <a:txBody>
                    <a:bodyPr/>
                    <a:lstStyle/>
                    <a:p>
                      <a:pPr marL="0" marR="0" lvl="0" indent="0" algn="l" rtl="0">
                        <a:spcBef>
                          <a:spcPts val="0"/>
                        </a:spcBef>
                        <a:spcAft>
                          <a:spcPts val="0"/>
                        </a:spcAft>
                        <a:buNone/>
                      </a:pPr>
                      <a:r>
                        <a:rPr lang="en-US" sz="1650" b="0" i="0" u="none" strike="noStrike" cap="none" dirty="0">
                          <a:solidFill>
                            <a:srgbClr val="C3E18C"/>
                          </a:solidFill>
                          <a:latin typeface="Inter SemiBold"/>
                          <a:ea typeface="Inter SemiBold"/>
                          <a:cs typeface="Inter SemiBold"/>
                          <a:sym typeface="Inter SemiBold"/>
                        </a:rPr>
                        <a:t>Control ID</a:t>
                      </a:r>
                      <a:endParaRPr dirty="0">
                        <a:solidFill>
                          <a:srgbClr val="C3E18C"/>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650" b="0" i="0" u="none" strike="noStrike" cap="none" dirty="0">
                          <a:solidFill>
                            <a:srgbClr val="DEFF9A"/>
                          </a:solidFill>
                          <a:latin typeface="Inter SemiBold"/>
                          <a:ea typeface="Inter SemiBold"/>
                          <a:cs typeface="Inter SemiBold"/>
                          <a:sym typeface="Inter SemiBold"/>
                        </a:rPr>
                        <a:t>Standard Requirement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650" b="0" i="0" u="none" strike="noStrike" cap="none">
                          <a:solidFill>
                            <a:srgbClr val="DEFF9A"/>
                          </a:solidFill>
                          <a:latin typeface="Inter SemiBold"/>
                          <a:ea typeface="Inter SemiBold"/>
                          <a:cs typeface="Inter SemiBold"/>
                          <a:sym typeface="Inter SemiBold"/>
                        </a:rPr>
                        <a:t>Technical Rationale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671500">
                <a:tc>
                  <a:txBody>
                    <a:bodyPr/>
                    <a:lstStyle/>
                    <a:p>
                      <a:pPr marL="0" marR="0" lvl="0" indent="0" algn="l" rtl="0">
                        <a:spcBef>
                          <a:spcPts val="0"/>
                        </a:spcBef>
                        <a:spcAft>
                          <a:spcPts val="0"/>
                        </a:spcAft>
                        <a:buNone/>
                      </a:pPr>
                      <a:r>
                        <a:rPr lang="en-US" sz="1350" b="0" i="0" u="none" strike="noStrike" cap="none">
                          <a:latin typeface="Inter"/>
                          <a:ea typeface="Inter"/>
                          <a:cs typeface="Inter"/>
                          <a:sym typeface="Inter"/>
                        </a:rPr>
                        <a:t>VMW-ESXI-01125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latin typeface="Inter"/>
                          <a:ea typeface="Inter"/>
                          <a:cs typeface="Inter"/>
                          <a:sym typeface="Inter"/>
                        </a:rPr>
                        <a:t>The ESXi host must enable UEFI Secure Boot.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strike="noStrike" cap="none">
                          <a:latin typeface="Inter"/>
                          <a:ea typeface="Inter"/>
                          <a:cs typeface="Inter"/>
                          <a:sym typeface="Inter"/>
                        </a:rPr>
                        <a:t>Prevents unauthorized code/rootkits from loading during boot.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71500">
                <a:tc>
                  <a:txBody>
                    <a:bodyPr/>
                    <a:lstStyle/>
                    <a:p>
                      <a:pPr marL="0" marR="0" lvl="0" indent="0" algn="l" rtl="0">
                        <a:spcBef>
                          <a:spcPts val="0"/>
                        </a:spcBef>
                        <a:spcAft>
                          <a:spcPts val="0"/>
                        </a:spcAft>
                        <a:buNone/>
                      </a:pPr>
                      <a:r>
                        <a:rPr lang="en-US" sz="1350" b="0" i="0" u="none" strike="noStrike" cap="none">
                          <a:latin typeface="Inter"/>
                          <a:ea typeface="Inter"/>
                          <a:cs typeface="Inter"/>
                          <a:sym typeface="Inter"/>
                        </a:rPr>
                        <a:t>Enforcement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latin typeface="Inter"/>
                          <a:ea typeface="Inter"/>
                          <a:cs typeface="Inter"/>
                          <a:sym typeface="Inter"/>
                        </a:rPr>
                        <a:t>Mandatory for VCF 4.5+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latin typeface="Inter"/>
                          <a:ea typeface="Inter"/>
                          <a:cs typeface="Inter"/>
                          <a:sym typeface="Inter"/>
                        </a:rPr>
                        <a:t>Ensures end-to-end chain of trust from BIOS to Hypervisor.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71525">
                <a:tc>
                  <a:txBody>
                    <a:bodyPr/>
                    <a:lstStyle/>
                    <a:p>
                      <a:pPr marL="0" marR="0" lvl="0" indent="0" algn="l" rtl="0">
                        <a:spcBef>
                          <a:spcPts val="0"/>
                        </a:spcBef>
                        <a:spcAft>
                          <a:spcPts val="0"/>
                        </a:spcAft>
                        <a:buNone/>
                      </a:pPr>
                      <a:r>
                        <a:rPr lang="en-US" sz="1350" b="0" i="0" u="none" strike="noStrike" cap="none">
                          <a:latin typeface="Inter"/>
                          <a:ea typeface="Inter"/>
                          <a:cs typeface="Inter"/>
                          <a:sym typeface="Inter"/>
                        </a:rPr>
                        <a:t>Action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latin typeface="Inter"/>
                          <a:ea typeface="Inter"/>
                          <a:cs typeface="Inter"/>
                          <a:sym typeface="Inter"/>
                        </a:rPr>
                        <a:t>Evacuate &amp; Reboot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latin typeface="Inter"/>
                          <a:ea typeface="Inter"/>
                          <a:cs typeface="Inter"/>
                          <a:sym typeface="Inter"/>
                        </a:rPr>
                        <a:t>Host must be in Maintenance Mode for permanent enforcement.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39" name="Google Shape;339;p38"/>
          <p:cNvSpPr/>
          <p:nvPr/>
        </p:nvSpPr>
        <p:spPr>
          <a:xfrm>
            <a:off x="581025" y="3919537"/>
            <a:ext cx="17628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0" name="Google Shape;340;p38"/>
          <p:cNvSpPr/>
          <p:nvPr/>
        </p:nvSpPr>
        <p:spPr>
          <a:xfrm>
            <a:off x="2343745" y="3919537"/>
            <a:ext cx="39393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1" name="Google Shape;341;p38"/>
          <p:cNvSpPr/>
          <p:nvPr/>
        </p:nvSpPr>
        <p:spPr>
          <a:xfrm>
            <a:off x="6283076" y="3919537"/>
            <a:ext cx="53280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2" name="Google Shape;342;p38"/>
          <p:cNvSpPr/>
          <p:nvPr/>
        </p:nvSpPr>
        <p:spPr>
          <a:xfrm>
            <a:off x="581025" y="4471987"/>
            <a:ext cx="17628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3" name="Google Shape;343;p38"/>
          <p:cNvSpPr/>
          <p:nvPr/>
        </p:nvSpPr>
        <p:spPr>
          <a:xfrm>
            <a:off x="2343745" y="4471987"/>
            <a:ext cx="39393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4" name="Google Shape;344;p38"/>
          <p:cNvSpPr/>
          <p:nvPr/>
        </p:nvSpPr>
        <p:spPr>
          <a:xfrm>
            <a:off x="6283076" y="4471987"/>
            <a:ext cx="53280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5" name="Google Shape;345;p38"/>
          <p:cNvSpPr/>
          <p:nvPr/>
        </p:nvSpPr>
        <p:spPr>
          <a:xfrm>
            <a:off x="581025" y="5224462"/>
            <a:ext cx="17628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6" name="Google Shape;346;p38"/>
          <p:cNvSpPr/>
          <p:nvPr/>
        </p:nvSpPr>
        <p:spPr>
          <a:xfrm>
            <a:off x="2343745" y="5224462"/>
            <a:ext cx="39393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7" name="Google Shape;347;p38"/>
          <p:cNvSpPr/>
          <p:nvPr/>
        </p:nvSpPr>
        <p:spPr>
          <a:xfrm>
            <a:off x="6283076" y="5224462"/>
            <a:ext cx="53280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8" name="Google Shape;348;p38"/>
          <p:cNvSpPr txBox="1"/>
          <p:nvPr/>
        </p:nvSpPr>
        <p:spPr>
          <a:xfrm>
            <a:off x="771525" y="581025"/>
            <a:ext cx="113814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dirty="0">
                <a:solidFill>
                  <a:schemeClr val="bg1"/>
                </a:solidFill>
                <a:latin typeface="Urbanist SemiBold"/>
                <a:ea typeface="Urbanist SemiBold"/>
                <a:cs typeface="Urbanist SemiBold"/>
                <a:sym typeface="Urbanist SemiBold"/>
              </a:rPr>
              <a:t>REFERENCE: VMW-ESXI-01125</a:t>
            </a:r>
            <a:endParaRPr dirty="0">
              <a:solidFill>
                <a:schemeClr val="bg1"/>
              </a:solidFill>
            </a:endParaRPr>
          </a:p>
        </p:txBody>
      </p:sp>
      <p:sp>
        <p:nvSpPr>
          <p:cNvPr id="2" name="Google Shape;324;p36">
            <a:extLst>
              <a:ext uri="{FF2B5EF4-FFF2-40B4-BE49-F238E27FC236}">
                <a16:creationId xmlns:a16="http://schemas.microsoft.com/office/drawing/2014/main" id="{7EFE492D-F50C-6A65-B7E3-3314BF9B206F}"/>
              </a:ext>
            </a:extLst>
          </p:cNvPr>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353"/>
        <p:cNvGrpSpPr/>
        <p:nvPr/>
      </p:nvGrpSpPr>
      <p:grpSpPr>
        <a:xfrm>
          <a:off x="0" y="0"/>
          <a:ext cx="0" cy="0"/>
          <a:chOff x="0" y="0"/>
          <a:chExt cx="0" cy="0"/>
        </a:xfrm>
      </p:grpSpPr>
      <p:pic>
        <p:nvPicPr>
          <p:cNvPr id="354" name="Google Shape;354;p3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55" name="Google Shape;355;p39"/>
          <p:cNvSpPr/>
          <p:nvPr/>
        </p:nvSpPr>
        <p:spPr>
          <a:xfrm>
            <a:off x="571500" y="3905250"/>
            <a:ext cx="11049000" cy="3810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6" name="Google Shape;356;p39"/>
          <p:cNvSpPr/>
          <p:nvPr/>
        </p:nvSpPr>
        <p:spPr>
          <a:xfrm>
            <a:off x="1600200" y="3829050"/>
            <a:ext cx="152400" cy="152400"/>
          </a:xfrm>
          <a:prstGeom prst="roundRect">
            <a:avLst>
              <a:gd name="adj" fmla="val 50000"/>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7" name="Google Shape;357;p39"/>
          <p:cNvSpPr/>
          <p:nvPr/>
        </p:nvSpPr>
        <p:spPr>
          <a:xfrm>
            <a:off x="3810000" y="3829050"/>
            <a:ext cx="152400" cy="152400"/>
          </a:xfrm>
          <a:prstGeom prst="roundRect">
            <a:avLst>
              <a:gd name="adj" fmla="val 50000"/>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8" name="Google Shape;358;p39"/>
          <p:cNvSpPr/>
          <p:nvPr/>
        </p:nvSpPr>
        <p:spPr>
          <a:xfrm>
            <a:off x="6019800" y="3829050"/>
            <a:ext cx="152400" cy="152400"/>
          </a:xfrm>
          <a:prstGeom prst="roundRect">
            <a:avLst>
              <a:gd name="adj" fmla="val 50000"/>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9" name="Google Shape;359;p39"/>
          <p:cNvSpPr/>
          <p:nvPr/>
        </p:nvSpPr>
        <p:spPr>
          <a:xfrm>
            <a:off x="8229600" y="3829050"/>
            <a:ext cx="152400" cy="152400"/>
          </a:xfrm>
          <a:prstGeom prst="roundRect">
            <a:avLst>
              <a:gd name="adj" fmla="val 50000"/>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0" name="Google Shape;360;p39"/>
          <p:cNvSpPr/>
          <p:nvPr/>
        </p:nvSpPr>
        <p:spPr>
          <a:xfrm>
            <a:off x="10439400" y="3829050"/>
            <a:ext cx="152400" cy="152400"/>
          </a:xfrm>
          <a:prstGeom prst="roundRect">
            <a:avLst>
              <a:gd name="adj" fmla="val 50000"/>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1" name="Google Shape;361;p39"/>
          <p:cNvSpPr txBox="1"/>
          <p:nvPr/>
        </p:nvSpPr>
        <p:spPr>
          <a:xfrm>
            <a:off x="516254" y="3409950"/>
            <a:ext cx="23202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Poppins"/>
                <a:ea typeface="Poppins"/>
                <a:cs typeface="Poppins"/>
                <a:sym typeface="Poppins"/>
              </a:rPr>
              <a:t>Evacuate</a:t>
            </a:r>
            <a:endParaRPr/>
          </a:p>
        </p:txBody>
      </p:sp>
      <p:sp>
        <p:nvSpPr>
          <p:cNvPr id="362" name="Google Shape;362;p39"/>
          <p:cNvSpPr txBox="1"/>
          <p:nvPr/>
        </p:nvSpPr>
        <p:spPr>
          <a:xfrm>
            <a:off x="571500" y="3952875"/>
            <a:ext cx="2209800" cy="207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Maintenance Mode</a:t>
            </a:r>
            <a:endParaRPr/>
          </a:p>
        </p:txBody>
      </p:sp>
      <p:sp>
        <p:nvSpPr>
          <p:cNvPr id="363" name="Google Shape;363;p39"/>
          <p:cNvSpPr txBox="1"/>
          <p:nvPr/>
        </p:nvSpPr>
        <p:spPr>
          <a:xfrm>
            <a:off x="2726055" y="3409950"/>
            <a:ext cx="23202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Poppins"/>
                <a:ea typeface="Poppins"/>
                <a:cs typeface="Poppins"/>
                <a:sym typeface="Poppins"/>
              </a:rPr>
              <a:t>BIOS</a:t>
            </a:r>
            <a:endParaRPr/>
          </a:p>
        </p:txBody>
      </p:sp>
      <p:sp>
        <p:nvSpPr>
          <p:cNvPr id="364" name="Google Shape;364;p39"/>
          <p:cNvSpPr txBox="1"/>
          <p:nvPr/>
        </p:nvSpPr>
        <p:spPr>
          <a:xfrm>
            <a:off x="2781300" y="3952875"/>
            <a:ext cx="2209800" cy="207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Set UEFI/TPM</a:t>
            </a:r>
            <a:endParaRPr/>
          </a:p>
        </p:txBody>
      </p:sp>
      <p:sp>
        <p:nvSpPr>
          <p:cNvPr id="365" name="Google Shape;365;p39"/>
          <p:cNvSpPr txBox="1"/>
          <p:nvPr/>
        </p:nvSpPr>
        <p:spPr>
          <a:xfrm>
            <a:off x="4935855" y="3409950"/>
            <a:ext cx="23202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Poppins"/>
                <a:ea typeface="Poppins"/>
                <a:cs typeface="Poppins"/>
                <a:sym typeface="Poppins"/>
              </a:rPr>
              <a:t>Automate</a:t>
            </a:r>
            <a:endParaRPr/>
          </a:p>
        </p:txBody>
      </p:sp>
      <p:sp>
        <p:nvSpPr>
          <p:cNvPr id="366" name="Google Shape;366;p39"/>
          <p:cNvSpPr txBox="1"/>
          <p:nvPr/>
        </p:nvSpPr>
        <p:spPr>
          <a:xfrm>
            <a:off x="4991100" y="3952875"/>
            <a:ext cx="2209800" cy="207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Run Set-SB Script</a:t>
            </a:r>
            <a:endParaRPr/>
          </a:p>
        </p:txBody>
      </p:sp>
      <p:sp>
        <p:nvSpPr>
          <p:cNvPr id="367" name="Google Shape;367;p39"/>
          <p:cNvSpPr txBox="1"/>
          <p:nvPr/>
        </p:nvSpPr>
        <p:spPr>
          <a:xfrm>
            <a:off x="7145655" y="3409950"/>
            <a:ext cx="23202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Poppins"/>
                <a:ea typeface="Poppins"/>
                <a:cs typeface="Poppins"/>
                <a:sym typeface="Poppins"/>
              </a:rPr>
              <a:t>Backup</a:t>
            </a:r>
            <a:endParaRPr/>
          </a:p>
        </p:txBody>
      </p:sp>
      <p:sp>
        <p:nvSpPr>
          <p:cNvPr id="368" name="Google Shape;368;p39"/>
          <p:cNvSpPr txBox="1"/>
          <p:nvPr/>
        </p:nvSpPr>
        <p:spPr>
          <a:xfrm>
            <a:off x="7200900" y="3952875"/>
            <a:ext cx="2209800" cy="207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Export Recovery Keys</a:t>
            </a:r>
            <a:endParaRPr/>
          </a:p>
        </p:txBody>
      </p:sp>
      <p:sp>
        <p:nvSpPr>
          <p:cNvPr id="369" name="Google Shape;369;p39"/>
          <p:cNvSpPr txBox="1"/>
          <p:nvPr/>
        </p:nvSpPr>
        <p:spPr>
          <a:xfrm>
            <a:off x="9355455" y="3409950"/>
            <a:ext cx="23202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Poppins"/>
                <a:ea typeface="Poppins"/>
                <a:cs typeface="Poppins"/>
                <a:sym typeface="Poppins"/>
              </a:rPr>
              <a:t>Verify</a:t>
            </a:r>
            <a:endParaRPr/>
          </a:p>
        </p:txBody>
      </p:sp>
      <p:sp>
        <p:nvSpPr>
          <p:cNvPr id="370" name="Google Shape;370;p39"/>
          <p:cNvSpPr txBox="1"/>
          <p:nvPr/>
        </p:nvSpPr>
        <p:spPr>
          <a:xfrm>
            <a:off x="9410700" y="3952875"/>
            <a:ext cx="2209800" cy="207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Attestation Check</a:t>
            </a:r>
            <a:endParaRPr/>
          </a:p>
        </p:txBody>
      </p:sp>
      <p:sp>
        <p:nvSpPr>
          <p:cNvPr id="371" name="Google Shape;371;p39"/>
          <p:cNvSpPr txBox="1"/>
          <p:nvPr/>
        </p:nvSpPr>
        <p:spPr>
          <a:xfrm>
            <a:off x="762000" y="571500"/>
            <a:ext cx="114015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chemeClr val="bg1"/>
                </a:solidFill>
                <a:latin typeface="Poppins"/>
                <a:ea typeface="Poppins"/>
                <a:cs typeface="Poppins"/>
                <a:sym typeface="Poppins"/>
              </a:rPr>
              <a:t>Implementation Workflow</a:t>
            </a:r>
            <a:endParaRPr dirty="0">
              <a:solidFill>
                <a:schemeClr val="bg1"/>
              </a:solidFill>
            </a:endParaRPr>
          </a:p>
        </p:txBody>
      </p:sp>
      <p:sp>
        <p:nvSpPr>
          <p:cNvPr id="2" name="Google Shape;324;p36">
            <a:extLst>
              <a:ext uri="{FF2B5EF4-FFF2-40B4-BE49-F238E27FC236}">
                <a16:creationId xmlns:a16="http://schemas.microsoft.com/office/drawing/2014/main" id="{FF4C47B3-4309-6E2D-F02A-86932779AF0A}"/>
              </a:ext>
            </a:extLst>
          </p:cNvPr>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376"/>
        <p:cNvGrpSpPr/>
        <p:nvPr/>
      </p:nvGrpSpPr>
      <p:grpSpPr>
        <a:xfrm>
          <a:off x="0" y="0"/>
          <a:ext cx="0" cy="0"/>
          <a:chOff x="0" y="0"/>
          <a:chExt cx="0" cy="0"/>
        </a:xfrm>
      </p:grpSpPr>
      <p:pic>
        <p:nvPicPr>
          <p:cNvPr id="377" name="Google Shape;377;p4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78" name="Google Shape;378;p40"/>
          <p:cNvSpPr txBox="1"/>
          <p:nvPr/>
        </p:nvSpPr>
        <p:spPr>
          <a:xfrm>
            <a:off x="571500" y="3081337"/>
            <a:ext cx="5286300" cy="138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0" b="1" i="0" u="none" strike="noStrike" cap="none" dirty="0">
                <a:solidFill>
                  <a:srgbClr val="0EA5E9"/>
                </a:solidFill>
                <a:latin typeface="Lato"/>
                <a:ea typeface="Lato"/>
                <a:cs typeface="Lato"/>
                <a:sym typeface="Lato"/>
              </a:rPr>
              <a:t>0%</a:t>
            </a:r>
            <a:endParaRPr dirty="0">
              <a:solidFill>
                <a:srgbClr val="0EA5E9"/>
              </a:solidFill>
            </a:endParaRPr>
          </a:p>
        </p:txBody>
      </p:sp>
      <p:sp>
        <p:nvSpPr>
          <p:cNvPr id="379" name="Google Shape;379;p40"/>
          <p:cNvSpPr txBox="1"/>
          <p:nvPr/>
        </p:nvSpPr>
        <p:spPr>
          <a:xfrm>
            <a:off x="571500" y="4452937"/>
            <a:ext cx="52863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1F5F9"/>
                </a:solidFill>
                <a:latin typeface="Lato"/>
                <a:ea typeface="Lato"/>
                <a:cs typeface="Lato"/>
                <a:sym typeface="Lato"/>
              </a:rPr>
              <a:t>Data Loss Risk</a:t>
            </a:r>
            <a:endParaRPr/>
          </a:p>
        </p:txBody>
      </p:sp>
      <p:sp>
        <p:nvSpPr>
          <p:cNvPr id="380" name="Google Shape;380;p40"/>
          <p:cNvSpPr txBox="1"/>
          <p:nvPr/>
        </p:nvSpPr>
        <p:spPr>
          <a:xfrm>
            <a:off x="6334125" y="3048000"/>
            <a:ext cx="555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DEFF9A"/>
                </a:solidFill>
                <a:latin typeface="Poppins"/>
                <a:ea typeface="Poppins"/>
                <a:cs typeface="Poppins"/>
                <a:sym typeface="Poppins"/>
              </a:rPr>
              <a:t>Backup Strategy</a:t>
            </a:r>
            <a:endParaRPr/>
          </a:p>
        </p:txBody>
      </p:sp>
      <p:sp>
        <p:nvSpPr>
          <p:cNvPr id="381" name="Google Shape;381;p40"/>
          <p:cNvSpPr txBox="1"/>
          <p:nvPr/>
        </p:nvSpPr>
        <p:spPr>
          <a:xfrm>
            <a:off x="6334125" y="3590925"/>
            <a:ext cx="5286300" cy="1143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By using the PowerCLI Backup script, the risk of losing encryption persistence during hardware swaps is effectively eliminated. This ensures a seamless recovery process for encrypted hosts without manual key re-entry.</a:t>
            </a:r>
            <a:endParaRPr/>
          </a:p>
        </p:txBody>
      </p:sp>
      <p:sp>
        <p:nvSpPr>
          <p:cNvPr id="382" name="Google Shape;382;p40"/>
          <p:cNvSpPr txBox="1"/>
          <p:nvPr/>
        </p:nvSpPr>
        <p:spPr>
          <a:xfrm>
            <a:off x="762000" y="571500"/>
            <a:ext cx="114015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chemeClr val="bg1"/>
                </a:solidFill>
                <a:latin typeface="Poppins"/>
                <a:ea typeface="Poppins"/>
                <a:cs typeface="Poppins"/>
                <a:sym typeface="Poppins"/>
              </a:rPr>
              <a:t>Recovery Impact</a:t>
            </a:r>
            <a:endParaRPr dirty="0">
              <a:solidFill>
                <a:schemeClr val="bg1"/>
              </a:solidFill>
            </a:endParaRPr>
          </a:p>
        </p:txBody>
      </p:sp>
      <p:sp>
        <p:nvSpPr>
          <p:cNvPr id="2" name="Google Shape;324;p36">
            <a:extLst>
              <a:ext uri="{FF2B5EF4-FFF2-40B4-BE49-F238E27FC236}">
                <a16:creationId xmlns:a16="http://schemas.microsoft.com/office/drawing/2014/main" id="{1C2FDB3B-E0C0-7476-604E-FC3D996698B3}"/>
              </a:ext>
            </a:extLst>
          </p:cNvPr>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387"/>
        <p:cNvGrpSpPr/>
        <p:nvPr/>
      </p:nvGrpSpPr>
      <p:grpSpPr>
        <a:xfrm>
          <a:off x="0" y="0"/>
          <a:ext cx="0" cy="0"/>
          <a:chOff x="0" y="0"/>
          <a:chExt cx="0" cy="0"/>
        </a:xfrm>
      </p:grpSpPr>
      <p:pic>
        <p:nvPicPr>
          <p:cNvPr id="388" name="Google Shape;388;p4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89" name="Google Shape;389;p41" descr="image.png"/>
          <p:cNvPicPr preferRelativeResize="0"/>
          <p:nvPr/>
        </p:nvPicPr>
        <p:blipFill rotWithShape="1">
          <a:blip r:embed="rId4">
            <a:alphaModFix/>
          </a:blip>
          <a:srcRect/>
          <a:stretch/>
        </p:blipFill>
        <p:spPr>
          <a:xfrm>
            <a:off x="6334125" y="2000250"/>
            <a:ext cx="5286375" cy="3810000"/>
          </a:xfrm>
          <a:prstGeom prst="rect">
            <a:avLst/>
          </a:prstGeom>
          <a:noFill/>
          <a:ln>
            <a:noFill/>
          </a:ln>
        </p:spPr>
      </p:pic>
      <p:sp>
        <p:nvSpPr>
          <p:cNvPr id="390" name="Google Shape;390;p41"/>
          <p:cNvSpPr txBox="1"/>
          <p:nvPr/>
        </p:nvSpPr>
        <p:spPr>
          <a:xfrm>
            <a:off x="571500" y="2000250"/>
            <a:ext cx="555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DEFF9A"/>
                </a:solidFill>
                <a:latin typeface="Poppins"/>
                <a:ea typeface="Poppins"/>
                <a:cs typeface="Poppins"/>
                <a:sym typeface="Poppins"/>
              </a:rPr>
              <a:t>set-secureboot-enforced-on-vmhost</a:t>
            </a:r>
            <a:endParaRPr/>
          </a:p>
        </p:txBody>
      </p:sp>
      <p:sp>
        <p:nvSpPr>
          <p:cNvPr id="391" name="Google Shape;391;p41"/>
          <p:cNvSpPr txBox="1"/>
          <p:nvPr/>
        </p:nvSpPr>
        <p:spPr>
          <a:xfrm>
            <a:off x="571500" y="2543175"/>
            <a:ext cx="5286300" cy="519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This script automates the transition from UEFI-only to Secure Boot Enforced mode across a target host or cluster.</a:t>
            </a:r>
            <a:endParaRPr/>
          </a:p>
        </p:txBody>
      </p:sp>
      <p:sp>
        <p:nvSpPr>
          <p:cNvPr id="392" name="Google Shape;392;p41"/>
          <p:cNvSpPr txBox="1"/>
          <p:nvPr/>
        </p:nvSpPr>
        <p:spPr>
          <a:xfrm>
            <a:off x="1285875" y="3209925"/>
            <a:ext cx="4572000" cy="207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Validates UEFI capability before setting.</a:t>
            </a:r>
            <a:endParaRPr/>
          </a:p>
        </p:txBody>
      </p:sp>
      <p:sp>
        <p:nvSpPr>
          <p:cNvPr id="393" name="Google Shape;393;p41"/>
          <p:cNvSpPr txBox="1"/>
          <p:nvPr/>
        </p:nvSpPr>
        <p:spPr>
          <a:xfrm>
            <a:off x="1285875" y="3609975"/>
            <a:ext cx="4572000" cy="207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Configures requiresecureboot settings.</a:t>
            </a:r>
            <a:endParaRPr/>
          </a:p>
        </p:txBody>
      </p:sp>
      <p:sp>
        <p:nvSpPr>
          <p:cNvPr id="394" name="Google Shape;394;p41"/>
          <p:cNvSpPr txBox="1"/>
          <p:nvPr/>
        </p:nvSpPr>
        <p:spPr>
          <a:xfrm>
            <a:off x="1285875" y="4019550"/>
            <a:ext cx="4572000" cy="207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Ensures compliance with </a:t>
            </a:r>
            <a:r>
              <a:rPr lang="en-US" sz="1350" b="1" i="0" u="none" strike="noStrike" cap="none">
                <a:solidFill>
                  <a:srgbClr val="CBD5E1"/>
                </a:solidFill>
                <a:latin typeface="Lato"/>
                <a:ea typeface="Lato"/>
                <a:cs typeface="Lato"/>
                <a:sym typeface="Lato"/>
              </a:rPr>
              <a:t>VMW-ESXI-01125</a:t>
            </a:r>
            <a:r>
              <a:rPr lang="en-US" sz="1350" b="0" i="0" u="none" strike="noStrike" cap="none">
                <a:solidFill>
                  <a:srgbClr val="CBD5E1"/>
                </a:solidFill>
                <a:latin typeface="Lato"/>
                <a:ea typeface="Lato"/>
                <a:cs typeface="Lato"/>
                <a:sym typeface="Lato"/>
              </a:rPr>
              <a:t>.</a:t>
            </a:r>
            <a:endParaRPr/>
          </a:p>
        </p:txBody>
      </p:sp>
      <p:sp>
        <p:nvSpPr>
          <p:cNvPr id="395" name="Google Shape;395;p41"/>
          <p:cNvSpPr txBox="1"/>
          <p:nvPr/>
        </p:nvSpPr>
        <p:spPr>
          <a:xfrm>
            <a:off x="1285875" y="4419600"/>
            <a:ext cx="4572000" cy="207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GitHub: butch7903/PowerCLI repo.</a:t>
            </a:r>
            <a:endParaRPr/>
          </a:p>
        </p:txBody>
      </p:sp>
      <p:pic>
        <p:nvPicPr>
          <p:cNvPr id="396" name="Google Shape;396;p41" descr="image.png"/>
          <p:cNvPicPr preferRelativeResize="0"/>
          <p:nvPr/>
        </p:nvPicPr>
        <p:blipFill rotWithShape="1">
          <a:blip r:embed="rId5">
            <a:alphaModFix/>
          </a:blip>
          <a:srcRect/>
          <a:stretch/>
        </p:blipFill>
        <p:spPr>
          <a:xfrm>
            <a:off x="952500" y="3252787"/>
            <a:ext cx="238125" cy="200025"/>
          </a:xfrm>
          <a:prstGeom prst="rect">
            <a:avLst/>
          </a:prstGeom>
          <a:noFill/>
          <a:ln>
            <a:noFill/>
          </a:ln>
        </p:spPr>
      </p:pic>
      <p:pic>
        <p:nvPicPr>
          <p:cNvPr id="397" name="Google Shape;397;p41" descr="image.png"/>
          <p:cNvPicPr preferRelativeResize="0"/>
          <p:nvPr/>
        </p:nvPicPr>
        <p:blipFill rotWithShape="1">
          <a:blip r:embed="rId5">
            <a:alphaModFix/>
          </a:blip>
          <a:srcRect/>
          <a:stretch/>
        </p:blipFill>
        <p:spPr>
          <a:xfrm>
            <a:off x="952500" y="3652837"/>
            <a:ext cx="238125" cy="200025"/>
          </a:xfrm>
          <a:prstGeom prst="rect">
            <a:avLst/>
          </a:prstGeom>
          <a:noFill/>
          <a:ln>
            <a:noFill/>
          </a:ln>
        </p:spPr>
      </p:pic>
      <p:pic>
        <p:nvPicPr>
          <p:cNvPr id="398" name="Google Shape;398;p41" descr="image.png"/>
          <p:cNvPicPr preferRelativeResize="0"/>
          <p:nvPr/>
        </p:nvPicPr>
        <p:blipFill rotWithShape="1">
          <a:blip r:embed="rId5">
            <a:alphaModFix/>
          </a:blip>
          <a:srcRect/>
          <a:stretch/>
        </p:blipFill>
        <p:spPr>
          <a:xfrm>
            <a:off x="952500" y="4062412"/>
            <a:ext cx="238125" cy="200025"/>
          </a:xfrm>
          <a:prstGeom prst="rect">
            <a:avLst/>
          </a:prstGeom>
          <a:noFill/>
          <a:ln>
            <a:noFill/>
          </a:ln>
        </p:spPr>
      </p:pic>
      <p:pic>
        <p:nvPicPr>
          <p:cNvPr id="399" name="Google Shape;399;p41" descr="image.png"/>
          <p:cNvPicPr preferRelativeResize="0"/>
          <p:nvPr/>
        </p:nvPicPr>
        <p:blipFill rotWithShape="1">
          <a:blip r:embed="rId6">
            <a:alphaModFix/>
          </a:blip>
          <a:srcRect/>
          <a:stretch/>
        </p:blipFill>
        <p:spPr>
          <a:xfrm>
            <a:off x="952500" y="4462462"/>
            <a:ext cx="238125" cy="200025"/>
          </a:xfrm>
          <a:prstGeom prst="rect">
            <a:avLst/>
          </a:prstGeom>
          <a:noFill/>
          <a:ln>
            <a:noFill/>
          </a:ln>
        </p:spPr>
      </p:pic>
      <p:sp>
        <p:nvSpPr>
          <p:cNvPr id="400" name="Google Shape;400;p41"/>
          <p:cNvSpPr txBox="1"/>
          <p:nvPr/>
        </p:nvSpPr>
        <p:spPr>
          <a:xfrm>
            <a:off x="762000" y="571500"/>
            <a:ext cx="114015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dirty="0">
                <a:solidFill>
                  <a:schemeClr val="bg1"/>
                </a:solidFill>
                <a:latin typeface="Poppins"/>
                <a:ea typeface="Poppins"/>
                <a:cs typeface="Poppins"/>
                <a:sym typeface="Poppins"/>
              </a:rPr>
              <a:t>Enforce </a:t>
            </a:r>
            <a:r>
              <a:rPr lang="en-US" sz="3000" b="1" dirty="0" err="1">
                <a:solidFill>
                  <a:schemeClr val="bg1"/>
                </a:solidFill>
                <a:latin typeface="Poppins"/>
                <a:ea typeface="Poppins"/>
                <a:cs typeface="Poppins"/>
                <a:sym typeface="Poppins"/>
              </a:rPr>
              <a:t>SecureBoot</a:t>
            </a:r>
            <a:r>
              <a:rPr lang="en-US" sz="3000" b="1" dirty="0">
                <a:solidFill>
                  <a:schemeClr val="bg1"/>
                </a:solidFill>
                <a:latin typeface="Poppins"/>
                <a:ea typeface="Poppins"/>
                <a:cs typeface="Poppins"/>
                <a:sym typeface="Poppins"/>
              </a:rPr>
              <a:t> for a VMHost</a:t>
            </a:r>
            <a:endParaRPr dirty="0">
              <a:solidFill>
                <a:schemeClr val="bg1"/>
              </a:solidFill>
            </a:endParaRPr>
          </a:p>
        </p:txBody>
      </p:sp>
      <p:sp>
        <p:nvSpPr>
          <p:cNvPr id="402" name="Google Shape;402;p41"/>
          <p:cNvSpPr txBox="1"/>
          <p:nvPr/>
        </p:nvSpPr>
        <p:spPr>
          <a:xfrm>
            <a:off x="1285875" y="4862500"/>
            <a:ext cx="4572000" cy="8313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a:solidFill>
                  <a:srgbClr val="CBD5E1"/>
                </a:solidFill>
                <a:latin typeface="Lato"/>
                <a:ea typeface="Lato"/>
                <a:cs typeface="Lato"/>
                <a:sym typeface="Lato"/>
              </a:rPr>
              <a:t>https://github.com/butch7903/PowerCLI/blob/master/Set-Secureboot-Enforced-on-VMHost/set-secureboot-enforced-on-vmhost.ps1</a:t>
            </a:r>
            <a:endParaRPr/>
          </a:p>
        </p:txBody>
      </p:sp>
      <p:pic>
        <p:nvPicPr>
          <p:cNvPr id="403" name="Google Shape;403;p41" descr="image.png"/>
          <p:cNvPicPr preferRelativeResize="0"/>
          <p:nvPr/>
        </p:nvPicPr>
        <p:blipFill rotWithShape="1">
          <a:blip r:embed="rId6">
            <a:alphaModFix/>
          </a:blip>
          <a:srcRect/>
          <a:stretch/>
        </p:blipFill>
        <p:spPr>
          <a:xfrm>
            <a:off x="952500" y="4905362"/>
            <a:ext cx="238125" cy="200025"/>
          </a:xfrm>
          <a:prstGeom prst="rect">
            <a:avLst/>
          </a:prstGeom>
          <a:noFill/>
          <a:ln>
            <a:noFill/>
          </a:ln>
        </p:spPr>
      </p:pic>
      <p:pic>
        <p:nvPicPr>
          <p:cNvPr id="404" name="Google Shape;404;p41"/>
          <p:cNvPicPr preferRelativeResize="0"/>
          <p:nvPr/>
        </p:nvPicPr>
        <p:blipFill>
          <a:blip r:embed="rId7">
            <a:alphaModFix/>
          </a:blip>
          <a:stretch>
            <a:fillRect/>
          </a:stretch>
        </p:blipFill>
        <p:spPr>
          <a:xfrm>
            <a:off x="6066282" y="1193100"/>
            <a:ext cx="7796022" cy="5664899"/>
          </a:xfrm>
          <a:prstGeom prst="rect">
            <a:avLst/>
          </a:prstGeom>
          <a:noFill/>
          <a:ln>
            <a:noFill/>
          </a:ln>
        </p:spPr>
      </p:pic>
      <p:sp>
        <p:nvSpPr>
          <p:cNvPr id="2" name="Google Shape;324;p36">
            <a:extLst>
              <a:ext uri="{FF2B5EF4-FFF2-40B4-BE49-F238E27FC236}">
                <a16:creationId xmlns:a16="http://schemas.microsoft.com/office/drawing/2014/main" id="{C07264FB-77DC-A8AF-FB2B-E34B7E01684E}"/>
              </a:ext>
            </a:extLst>
          </p:cNvPr>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408"/>
        <p:cNvGrpSpPr/>
        <p:nvPr/>
      </p:nvGrpSpPr>
      <p:grpSpPr>
        <a:xfrm>
          <a:off x="0" y="0"/>
          <a:ext cx="0" cy="0"/>
          <a:chOff x="0" y="0"/>
          <a:chExt cx="0" cy="0"/>
        </a:xfrm>
      </p:grpSpPr>
      <p:pic>
        <p:nvPicPr>
          <p:cNvPr id="409" name="Google Shape;409;p4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10" name="Google Shape;410;p42" descr="image.png"/>
          <p:cNvPicPr preferRelativeResize="0"/>
          <p:nvPr/>
        </p:nvPicPr>
        <p:blipFill rotWithShape="1">
          <a:blip r:embed="rId4">
            <a:alphaModFix/>
          </a:blip>
          <a:srcRect/>
          <a:stretch/>
        </p:blipFill>
        <p:spPr>
          <a:xfrm>
            <a:off x="6334125" y="2000250"/>
            <a:ext cx="5286375" cy="3810000"/>
          </a:xfrm>
          <a:prstGeom prst="rect">
            <a:avLst/>
          </a:prstGeom>
          <a:noFill/>
          <a:ln>
            <a:noFill/>
          </a:ln>
        </p:spPr>
      </p:pic>
      <p:sp>
        <p:nvSpPr>
          <p:cNvPr id="411" name="Google Shape;411;p42"/>
          <p:cNvSpPr txBox="1"/>
          <p:nvPr/>
        </p:nvSpPr>
        <p:spPr>
          <a:xfrm>
            <a:off x="571500" y="1519850"/>
            <a:ext cx="107682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DEFF9A"/>
                </a:solidFill>
                <a:latin typeface="Poppins"/>
                <a:ea typeface="Poppins"/>
                <a:cs typeface="Poppins"/>
                <a:sym typeface="Poppins"/>
              </a:rPr>
              <a:t>backup-secureboot-tpm-encryption-recovery-keys</a:t>
            </a:r>
            <a:endParaRPr/>
          </a:p>
        </p:txBody>
      </p:sp>
      <p:sp>
        <p:nvSpPr>
          <p:cNvPr id="412" name="Google Shape;412;p42"/>
          <p:cNvSpPr txBox="1"/>
          <p:nvPr/>
        </p:nvSpPr>
        <p:spPr>
          <a:xfrm>
            <a:off x="571500" y="2543175"/>
            <a:ext cx="5286300" cy="519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This script automates </a:t>
            </a:r>
            <a:r>
              <a:rPr lang="en-US" sz="1350">
                <a:solidFill>
                  <a:srgbClr val="CBD5E1"/>
                </a:solidFill>
                <a:latin typeface="Lato"/>
                <a:ea typeface="Lato"/>
                <a:cs typeface="Lato"/>
                <a:sym typeface="Lato"/>
              </a:rPr>
              <a:t>the backup of the SecureBoot TPM Encryption Recovery Keys</a:t>
            </a:r>
            <a:endParaRPr/>
          </a:p>
        </p:txBody>
      </p:sp>
      <p:sp>
        <p:nvSpPr>
          <p:cNvPr id="413" name="Google Shape;413;p42"/>
          <p:cNvSpPr txBox="1"/>
          <p:nvPr/>
        </p:nvSpPr>
        <p:spPr>
          <a:xfrm>
            <a:off x="1285875" y="3209925"/>
            <a:ext cx="4572000" cy="207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a:solidFill>
                  <a:srgbClr val="CBD5E1"/>
                </a:solidFill>
                <a:latin typeface="Lato"/>
                <a:ea typeface="Lato"/>
                <a:cs typeface="Lato"/>
                <a:sym typeface="Lato"/>
              </a:rPr>
              <a:t>Specify 1 hosts or a cluster</a:t>
            </a:r>
            <a:endParaRPr/>
          </a:p>
        </p:txBody>
      </p:sp>
      <p:sp>
        <p:nvSpPr>
          <p:cNvPr id="414" name="Google Shape;414;p42"/>
          <p:cNvSpPr txBox="1"/>
          <p:nvPr/>
        </p:nvSpPr>
        <p:spPr>
          <a:xfrm>
            <a:off x="1285875" y="3609975"/>
            <a:ext cx="4572000" cy="207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a:solidFill>
                  <a:srgbClr val="CBD5E1"/>
                </a:solidFill>
                <a:latin typeface="Lato"/>
                <a:ea typeface="Lato"/>
                <a:cs typeface="Lato"/>
                <a:sym typeface="Lato"/>
              </a:rPr>
              <a:t>Exports Keys to CSV</a:t>
            </a:r>
            <a:endParaRPr/>
          </a:p>
        </p:txBody>
      </p:sp>
      <p:sp>
        <p:nvSpPr>
          <p:cNvPr id="415" name="Google Shape;415;p42"/>
          <p:cNvSpPr txBox="1"/>
          <p:nvPr/>
        </p:nvSpPr>
        <p:spPr>
          <a:xfrm>
            <a:off x="1285875" y="4019550"/>
            <a:ext cx="4572000" cy="207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a:solidFill>
                  <a:srgbClr val="CBD5E1"/>
                </a:solidFill>
                <a:latin typeface="Lato"/>
                <a:ea typeface="Lato"/>
                <a:cs typeface="Lato"/>
                <a:sym typeface="Lato"/>
              </a:rPr>
              <a:t>Ensures keys are stored somewhere should you need them</a:t>
            </a:r>
            <a:endParaRPr/>
          </a:p>
        </p:txBody>
      </p:sp>
      <p:sp>
        <p:nvSpPr>
          <p:cNvPr id="416" name="Google Shape;416;p42"/>
          <p:cNvSpPr txBox="1"/>
          <p:nvPr/>
        </p:nvSpPr>
        <p:spPr>
          <a:xfrm>
            <a:off x="1285875" y="4419600"/>
            <a:ext cx="4572000" cy="207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CBD5E1"/>
                </a:solidFill>
                <a:latin typeface="Lato"/>
                <a:ea typeface="Lato"/>
                <a:cs typeface="Lato"/>
                <a:sym typeface="Lato"/>
              </a:rPr>
              <a:t>GitHub: butch7903/PowerCLI repo.</a:t>
            </a:r>
            <a:endParaRPr/>
          </a:p>
        </p:txBody>
      </p:sp>
      <p:pic>
        <p:nvPicPr>
          <p:cNvPr id="417" name="Google Shape;417;p42" descr="image.png"/>
          <p:cNvPicPr preferRelativeResize="0"/>
          <p:nvPr/>
        </p:nvPicPr>
        <p:blipFill rotWithShape="1">
          <a:blip r:embed="rId5">
            <a:alphaModFix/>
          </a:blip>
          <a:srcRect/>
          <a:stretch/>
        </p:blipFill>
        <p:spPr>
          <a:xfrm>
            <a:off x="952500" y="3252787"/>
            <a:ext cx="238125" cy="200025"/>
          </a:xfrm>
          <a:prstGeom prst="rect">
            <a:avLst/>
          </a:prstGeom>
          <a:noFill/>
          <a:ln>
            <a:noFill/>
          </a:ln>
        </p:spPr>
      </p:pic>
      <p:pic>
        <p:nvPicPr>
          <p:cNvPr id="418" name="Google Shape;418;p42" descr="image.png"/>
          <p:cNvPicPr preferRelativeResize="0"/>
          <p:nvPr/>
        </p:nvPicPr>
        <p:blipFill rotWithShape="1">
          <a:blip r:embed="rId5">
            <a:alphaModFix/>
          </a:blip>
          <a:srcRect/>
          <a:stretch/>
        </p:blipFill>
        <p:spPr>
          <a:xfrm>
            <a:off x="952500" y="3652837"/>
            <a:ext cx="238125" cy="200025"/>
          </a:xfrm>
          <a:prstGeom prst="rect">
            <a:avLst/>
          </a:prstGeom>
          <a:noFill/>
          <a:ln>
            <a:noFill/>
          </a:ln>
        </p:spPr>
      </p:pic>
      <p:pic>
        <p:nvPicPr>
          <p:cNvPr id="419" name="Google Shape;419;p42" descr="image.png"/>
          <p:cNvPicPr preferRelativeResize="0"/>
          <p:nvPr/>
        </p:nvPicPr>
        <p:blipFill rotWithShape="1">
          <a:blip r:embed="rId5">
            <a:alphaModFix/>
          </a:blip>
          <a:srcRect/>
          <a:stretch/>
        </p:blipFill>
        <p:spPr>
          <a:xfrm>
            <a:off x="952500" y="4062412"/>
            <a:ext cx="238125" cy="200025"/>
          </a:xfrm>
          <a:prstGeom prst="rect">
            <a:avLst/>
          </a:prstGeom>
          <a:noFill/>
          <a:ln>
            <a:noFill/>
          </a:ln>
        </p:spPr>
      </p:pic>
      <p:pic>
        <p:nvPicPr>
          <p:cNvPr id="420" name="Google Shape;420;p42" descr="image.png"/>
          <p:cNvPicPr preferRelativeResize="0"/>
          <p:nvPr/>
        </p:nvPicPr>
        <p:blipFill rotWithShape="1">
          <a:blip r:embed="rId6">
            <a:alphaModFix/>
          </a:blip>
          <a:srcRect/>
          <a:stretch/>
        </p:blipFill>
        <p:spPr>
          <a:xfrm>
            <a:off x="952500" y="4462462"/>
            <a:ext cx="238125" cy="200025"/>
          </a:xfrm>
          <a:prstGeom prst="rect">
            <a:avLst/>
          </a:prstGeom>
          <a:noFill/>
          <a:ln>
            <a:noFill/>
          </a:ln>
        </p:spPr>
      </p:pic>
      <p:sp>
        <p:nvSpPr>
          <p:cNvPr id="421" name="Google Shape;421;p42"/>
          <p:cNvSpPr txBox="1"/>
          <p:nvPr/>
        </p:nvSpPr>
        <p:spPr>
          <a:xfrm>
            <a:off x="762000" y="571500"/>
            <a:ext cx="114015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dirty="0">
                <a:solidFill>
                  <a:schemeClr val="bg1"/>
                </a:solidFill>
                <a:latin typeface="Poppins"/>
                <a:ea typeface="Poppins"/>
                <a:cs typeface="Poppins"/>
                <a:sym typeface="Poppins"/>
              </a:rPr>
              <a:t>Backup TPM Encryption Keys</a:t>
            </a:r>
            <a:endParaRPr dirty="0">
              <a:solidFill>
                <a:schemeClr val="bg1"/>
              </a:solidFill>
            </a:endParaRPr>
          </a:p>
        </p:txBody>
      </p:sp>
      <p:sp>
        <p:nvSpPr>
          <p:cNvPr id="423" name="Google Shape;423;p42"/>
          <p:cNvSpPr txBox="1"/>
          <p:nvPr/>
        </p:nvSpPr>
        <p:spPr>
          <a:xfrm>
            <a:off x="1285875" y="4862500"/>
            <a:ext cx="4572000" cy="8313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a:solidFill>
                  <a:srgbClr val="CBD5E1"/>
                </a:solidFill>
                <a:latin typeface="Lato"/>
                <a:ea typeface="Lato"/>
                <a:cs typeface="Lato"/>
                <a:sym typeface="Lato"/>
              </a:rPr>
              <a:t>https://github.com/butch7903/PowerCLI/blob/master/Backup-Secureboot-TPM-Encryption-Recovery-Keys/backup-secureboot-tpm-encryption-recovery-keys.ps1</a:t>
            </a:r>
            <a:endParaRPr/>
          </a:p>
        </p:txBody>
      </p:sp>
      <p:pic>
        <p:nvPicPr>
          <p:cNvPr id="424" name="Google Shape;424;p42" descr="image.png"/>
          <p:cNvPicPr preferRelativeResize="0"/>
          <p:nvPr/>
        </p:nvPicPr>
        <p:blipFill rotWithShape="1">
          <a:blip r:embed="rId6">
            <a:alphaModFix/>
          </a:blip>
          <a:srcRect/>
          <a:stretch/>
        </p:blipFill>
        <p:spPr>
          <a:xfrm>
            <a:off x="952500" y="4905362"/>
            <a:ext cx="238125" cy="200025"/>
          </a:xfrm>
          <a:prstGeom prst="rect">
            <a:avLst/>
          </a:prstGeom>
          <a:noFill/>
          <a:ln>
            <a:noFill/>
          </a:ln>
        </p:spPr>
      </p:pic>
      <p:pic>
        <p:nvPicPr>
          <p:cNvPr id="425" name="Google Shape;425;p42"/>
          <p:cNvPicPr preferRelativeResize="0"/>
          <p:nvPr/>
        </p:nvPicPr>
        <p:blipFill>
          <a:blip r:embed="rId7">
            <a:alphaModFix/>
          </a:blip>
          <a:stretch>
            <a:fillRect/>
          </a:stretch>
        </p:blipFill>
        <p:spPr>
          <a:xfrm>
            <a:off x="6334125" y="2060974"/>
            <a:ext cx="5829375" cy="3906575"/>
          </a:xfrm>
          <a:prstGeom prst="rect">
            <a:avLst/>
          </a:prstGeom>
          <a:noFill/>
          <a:ln>
            <a:noFill/>
          </a:ln>
        </p:spPr>
      </p:pic>
      <p:sp>
        <p:nvSpPr>
          <p:cNvPr id="2" name="Google Shape;324;p36">
            <a:extLst>
              <a:ext uri="{FF2B5EF4-FFF2-40B4-BE49-F238E27FC236}">
                <a16:creationId xmlns:a16="http://schemas.microsoft.com/office/drawing/2014/main" id="{C3A25169-675F-A47F-64A2-8CBA8847C1D8}"/>
              </a:ext>
            </a:extLst>
          </p:cNvPr>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429"/>
        <p:cNvGrpSpPr/>
        <p:nvPr/>
      </p:nvGrpSpPr>
      <p:grpSpPr>
        <a:xfrm>
          <a:off x="0" y="0"/>
          <a:ext cx="0" cy="0"/>
          <a:chOff x="0" y="0"/>
          <a:chExt cx="0" cy="0"/>
        </a:xfrm>
      </p:grpSpPr>
      <p:pic>
        <p:nvPicPr>
          <p:cNvPr id="430" name="Google Shape;430;p4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31" name="Google Shape;431;p43" descr="image.png"/>
          <p:cNvPicPr preferRelativeResize="0"/>
          <p:nvPr/>
        </p:nvPicPr>
        <p:blipFill rotWithShape="1">
          <a:blip r:embed="rId4">
            <a:alphaModFix/>
          </a:blip>
          <a:srcRect/>
          <a:stretch/>
        </p:blipFill>
        <p:spPr>
          <a:xfrm>
            <a:off x="6381750" y="1966912"/>
            <a:ext cx="5229225" cy="3810000"/>
          </a:xfrm>
          <a:prstGeom prst="rect">
            <a:avLst/>
          </a:prstGeom>
          <a:noFill/>
          <a:ln>
            <a:noFill/>
          </a:ln>
        </p:spPr>
      </p:pic>
      <p:sp>
        <p:nvSpPr>
          <p:cNvPr id="432" name="Google Shape;432;p43"/>
          <p:cNvSpPr txBox="1"/>
          <p:nvPr/>
        </p:nvSpPr>
        <p:spPr>
          <a:xfrm>
            <a:off x="1390650" y="2433042"/>
            <a:ext cx="441960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CBD5E1"/>
                </a:solidFill>
                <a:latin typeface="Inter"/>
                <a:ea typeface="Inter"/>
                <a:cs typeface="Inter"/>
                <a:sym typeface="Inter"/>
              </a:rPr>
              <a:t>Validation Check:</a:t>
            </a:r>
            <a:r>
              <a:rPr lang="en-US" sz="1425" b="0" i="0" u="none" strike="noStrike" cap="none">
                <a:solidFill>
                  <a:srgbClr val="CBD5E1"/>
                </a:solidFill>
                <a:latin typeface="Inter"/>
                <a:ea typeface="Inter"/>
                <a:cs typeface="Inter"/>
                <a:sym typeface="Inter"/>
              </a:rPr>
              <a:t> Run /usr/lib/vmware/secureboot/bin/secureboot.py -c to see if the host is ready for Secure Boot.</a:t>
            </a:r>
            <a:endParaRPr/>
          </a:p>
        </p:txBody>
      </p:sp>
      <p:sp>
        <p:nvSpPr>
          <p:cNvPr id="433" name="Google Shape;433;p43"/>
          <p:cNvSpPr txBox="1"/>
          <p:nvPr/>
        </p:nvSpPr>
        <p:spPr>
          <a:xfrm>
            <a:off x="1390650" y="3539579"/>
            <a:ext cx="441960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CBD5E1"/>
                </a:solidFill>
                <a:latin typeface="Inter"/>
                <a:ea typeface="Inter"/>
                <a:cs typeface="Inter"/>
                <a:sym typeface="Inter"/>
              </a:rPr>
              <a:t>Status Check:</a:t>
            </a:r>
            <a:r>
              <a:rPr lang="en-US" sz="1425" b="0" i="0" u="none" strike="noStrike" cap="none">
                <a:solidFill>
                  <a:srgbClr val="CBD5E1"/>
                </a:solidFill>
                <a:latin typeface="Inter"/>
                <a:ea typeface="Inter"/>
                <a:cs typeface="Inter"/>
                <a:sym typeface="Inter"/>
              </a:rPr>
              <a:t> Use /usr/lib/vmware/secureboot/bin/secureboot.py -s to confirm active enforcement.</a:t>
            </a:r>
            <a:endParaRPr/>
          </a:p>
        </p:txBody>
      </p:sp>
      <p:sp>
        <p:nvSpPr>
          <p:cNvPr id="434" name="Google Shape;434;p43"/>
          <p:cNvSpPr txBox="1"/>
          <p:nvPr/>
        </p:nvSpPr>
        <p:spPr>
          <a:xfrm>
            <a:off x="1390650" y="4646116"/>
            <a:ext cx="44196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CBD5E1"/>
                </a:solidFill>
                <a:latin typeface="Inter"/>
                <a:ea typeface="Inter"/>
                <a:cs typeface="Inter"/>
                <a:sym typeface="Inter"/>
              </a:rPr>
              <a:t>Host Attestation:</a:t>
            </a:r>
            <a:r>
              <a:rPr lang="en-US" sz="1425" b="0" i="0" u="none" strike="noStrike" cap="none">
                <a:solidFill>
                  <a:srgbClr val="CBD5E1"/>
                </a:solidFill>
                <a:latin typeface="Inter"/>
                <a:ea typeface="Inter"/>
                <a:cs typeface="Inter"/>
                <a:sym typeface="Inter"/>
              </a:rPr>
              <a:t> Check vCenter &gt; Monitor &gt; Security to view TPM attestation status.</a:t>
            </a:r>
            <a:endParaRPr/>
          </a:p>
        </p:txBody>
      </p:sp>
      <p:pic>
        <p:nvPicPr>
          <p:cNvPr id="435" name="Google Shape;435;p43" descr="image.png"/>
          <p:cNvPicPr preferRelativeResize="0"/>
          <p:nvPr/>
        </p:nvPicPr>
        <p:blipFill rotWithShape="1">
          <a:blip r:embed="rId5">
            <a:alphaModFix/>
          </a:blip>
          <a:srcRect/>
          <a:stretch/>
        </p:blipFill>
        <p:spPr>
          <a:xfrm>
            <a:off x="962025" y="2471142"/>
            <a:ext cx="257175" cy="247650"/>
          </a:xfrm>
          <a:prstGeom prst="rect">
            <a:avLst/>
          </a:prstGeom>
          <a:noFill/>
          <a:ln>
            <a:noFill/>
          </a:ln>
        </p:spPr>
      </p:pic>
      <p:pic>
        <p:nvPicPr>
          <p:cNvPr id="436" name="Google Shape;436;p43" descr="image.png"/>
          <p:cNvPicPr preferRelativeResize="0"/>
          <p:nvPr/>
        </p:nvPicPr>
        <p:blipFill rotWithShape="1">
          <a:blip r:embed="rId6">
            <a:alphaModFix/>
          </a:blip>
          <a:srcRect/>
          <a:stretch/>
        </p:blipFill>
        <p:spPr>
          <a:xfrm>
            <a:off x="962025" y="4684216"/>
            <a:ext cx="228600" cy="247650"/>
          </a:xfrm>
          <a:prstGeom prst="rect">
            <a:avLst/>
          </a:prstGeom>
          <a:noFill/>
          <a:ln>
            <a:noFill/>
          </a:ln>
        </p:spPr>
      </p:pic>
      <p:sp>
        <p:nvSpPr>
          <p:cNvPr id="437" name="Google Shape;437;p43"/>
          <p:cNvSpPr txBox="1"/>
          <p:nvPr/>
        </p:nvSpPr>
        <p:spPr>
          <a:xfrm>
            <a:off x="771525" y="581025"/>
            <a:ext cx="11381422"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dirty="0">
                <a:solidFill>
                  <a:srgbClr val="F8FAFC"/>
                </a:solidFill>
                <a:latin typeface="Urbanist SemiBold"/>
                <a:ea typeface="Urbanist SemiBold"/>
                <a:cs typeface="Urbanist SemiBold"/>
                <a:sym typeface="Urbanist SemiBold"/>
              </a:rPr>
              <a:t>Verification via ESXI Shell</a:t>
            </a:r>
            <a:endParaRPr dirty="0"/>
          </a:p>
        </p:txBody>
      </p:sp>
      <p:sp>
        <p:nvSpPr>
          <p:cNvPr id="438" name="Google Shape;438;p43"/>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442"/>
        <p:cNvGrpSpPr/>
        <p:nvPr/>
      </p:nvGrpSpPr>
      <p:grpSpPr>
        <a:xfrm>
          <a:off x="0" y="0"/>
          <a:ext cx="0" cy="0"/>
          <a:chOff x="0" y="0"/>
          <a:chExt cx="0" cy="0"/>
        </a:xfrm>
      </p:grpSpPr>
      <p:pic>
        <p:nvPicPr>
          <p:cNvPr id="443" name="Google Shape;443;p4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44" name="Google Shape;444;p44" descr="image.png"/>
          <p:cNvPicPr preferRelativeResize="0"/>
          <p:nvPr/>
        </p:nvPicPr>
        <p:blipFill rotWithShape="1">
          <a:blip r:embed="rId4">
            <a:alphaModFix/>
          </a:blip>
          <a:srcRect/>
          <a:stretch/>
        </p:blipFill>
        <p:spPr>
          <a:xfrm>
            <a:off x="581025" y="1466850"/>
            <a:ext cx="11029950" cy="4810125"/>
          </a:xfrm>
          <a:prstGeom prst="rect">
            <a:avLst/>
          </a:prstGeom>
          <a:noFill/>
          <a:ln>
            <a:noFill/>
          </a:ln>
        </p:spPr>
      </p:pic>
      <p:sp>
        <p:nvSpPr>
          <p:cNvPr id="445" name="Google Shape;445;p44"/>
          <p:cNvSpPr txBox="1"/>
          <p:nvPr/>
        </p:nvSpPr>
        <p:spPr>
          <a:xfrm>
            <a:off x="581025" y="5446365"/>
            <a:ext cx="11029950" cy="289470"/>
          </a:xfrm>
          <a:prstGeom prst="rect">
            <a:avLst/>
          </a:prstGeom>
          <a:noFill/>
          <a:ln>
            <a:noFill/>
          </a:ln>
        </p:spPr>
        <p:txBody>
          <a:bodyPr spcFirstLastPara="1" wrap="square" lIns="0" tIns="0" rIns="0" bIns="0" anchor="t" anchorCtr="0">
            <a:spAutoFit/>
          </a:bodyPr>
          <a:lstStyle/>
          <a:p>
            <a:pPr marL="0" marR="0" lvl="0" indent="0" algn="ctr" rtl="0">
              <a:lnSpc>
                <a:spcPct val="159929"/>
              </a:lnSpc>
              <a:spcBef>
                <a:spcPts val="0"/>
              </a:spcBef>
              <a:spcAft>
                <a:spcPts val="0"/>
              </a:spcAft>
              <a:buNone/>
            </a:pPr>
            <a:r>
              <a:rPr lang="en-US" sz="1425" b="0" i="0" u="none" strike="noStrike" cap="none">
                <a:solidFill>
                  <a:srgbClr val="CBD5E1"/>
                </a:solidFill>
                <a:latin typeface="Inter"/>
                <a:ea typeface="Inter"/>
                <a:cs typeface="Inter"/>
                <a:sym typeface="Inter"/>
              </a:rPr>
              <a:t>Strategic goal: 100% compliance for all production Tier-1 clusters to meet Regulatory Security Frameworks (PCI-DSS, HIPAA).</a:t>
            </a:r>
            <a:endParaRPr/>
          </a:p>
        </p:txBody>
      </p:sp>
      <p:sp>
        <p:nvSpPr>
          <p:cNvPr id="446" name="Google Shape;446;p44"/>
          <p:cNvSpPr txBox="1"/>
          <p:nvPr/>
        </p:nvSpPr>
        <p:spPr>
          <a:xfrm>
            <a:off x="771525" y="581025"/>
            <a:ext cx="11381422"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dirty="0">
                <a:solidFill>
                  <a:srgbClr val="F8FAFC"/>
                </a:solidFill>
                <a:latin typeface="Urbanist SemiBold"/>
                <a:ea typeface="Urbanist SemiBold"/>
                <a:cs typeface="Urbanist SemiBold"/>
                <a:sym typeface="Urbanist SemiBold"/>
              </a:rPr>
              <a:t>Fleet</a:t>
            </a:r>
            <a:r>
              <a:rPr lang="en-US" sz="3300" b="0" i="0" u="none" strike="noStrike" cap="none" dirty="0">
                <a:solidFill>
                  <a:srgbClr val="F8FAFC"/>
                </a:solidFill>
                <a:latin typeface="Urbanist SemiBold"/>
                <a:ea typeface="Urbanist SemiBold"/>
                <a:cs typeface="Urbanist SemiBold"/>
                <a:sym typeface="Urbanist SemiBold"/>
              </a:rPr>
              <a:t> </a:t>
            </a:r>
            <a:r>
              <a:rPr lang="en-US" sz="3300" b="0" i="0" u="none" strike="noStrike" cap="none" dirty="0" err="1">
                <a:solidFill>
                  <a:srgbClr val="F8FAFC"/>
                </a:solidFill>
                <a:latin typeface="Urbanist SemiBold"/>
                <a:ea typeface="Urbanist SemiBold"/>
                <a:cs typeface="Urbanist SemiBold"/>
                <a:sym typeface="Urbanist SemiBold"/>
              </a:rPr>
              <a:t>Complaince</a:t>
            </a:r>
            <a:r>
              <a:rPr lang="en-US" sz="3300" b="0" i="0" u="none" strike="noStrike" cap="none" dirty="0">
                <a:solidFill>
                  <a:srgbClr val="F8FAFC"/>
                </a:solidFill>
                <a:latin typeface="Urbanist SemiBold"/>
                <a:ea typeface="Urbanist SemiBold"/>
                <a:cs typeface="Urbanist SemiBold"/>
                <a:sym typeface="Urbanist SemiBold"/>
              </a:rPr>
              <a:t> Standards</a:t>
            </a:r>
            <a:endParaRPr dirty="0"/>
          </a:p>
        </p:txBody>
      </p:sp>
      <p:sp>
        <p:nvSpPr>
          <p:cNvPr id="447" name="Google Shape;447;p44"/>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451"/>
        <p:cNvGrpSpPr/>
        <p:nvPr/>
      </p:nvGrpSpPr>
      <p:grpSpPr>
        <a:xfrm>
          <a:off x="0" y="0"/>
          <a:ext cx="0" cy="0"/>
          <a:chOff x="0" y="0"/>
          <a:chExt cx="0" cy="0"/>
        </a:xfrm>
      </p:grpSpPr>
      <p:pic>
        <p:nvPicPr>
          <p:cNvPr id="452" name="Google Shape;452;p4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53" name="Google Shape;453;p45" descr="image.png"/>
          <p:cNvPicPr preferRelativeResize="0"/>
          <p:nvPr/>
        </p:nvPicPr>
        <p:blipFill rotWithShape="1">
          <a:blip r:embed="rId4">
            <a:alphaModFix/>
          </a:blip>
          <a:srcRect/>
          <a:stretch/>
        </p:blipFill>
        <p:spPr>
          <a:xfrm>
            <a:off x="581025" y="2654796"/>
            <a:ext cx="5229225" cy="2434232"/>
          </a:xfrm>
          <a:prstGeom prst="rect">
            <a:avLst/>
          </a:prstGeom>
          <a:noFill/>
          <a:ln>
            <a:noFill/>
          </a:ln>
        </p:spPr>
      </p:pic>
      <p:pic>
        <p:nvPicPr>
          <p:cNvPr id="454" name="Google Shape;454;p45" descr="image.png"/>
          <p:cNvPicPr preferRelativeResize="0"/>
          <p:nvPr/>
        </p:nvPicPr>
        <p:blipFill rotWithShape="1">
          <a:blip r:embed="rId5">
            <a:alphaModFix/>
          </a:blip>
          <a:srcRect/>
          <a:stretch/>
        </p:blipFill>
        <p:spPr>
          <a:xfrm>
            <a:off x="6381750" y="2654796"/>
            <a:ext cx="5229225" cy="2434232"/>
          </a:xfrm>
          <a:prstGeom prst="rect">
            <a:avLst/>
          </a:prstGeom>
          <a:noFill/>
          <a:ln>
            <a:noFill/>
          </a:ln>
        </p:spPr>
      </p:pic>
      <p:sp>
        <p:nvSpPr>
          <p:cNvPr id="455" name="Google Shape;455;p45"/>
          <p:cNvSpPr txBox="1"/>
          <p:nvPr/>
        </p:nvSpPr>
        <p:spPr>
          <a:xfrm>
            <a:off x="876300" y="2950071"/>
            <a:ext cx="4870608"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FECACA"/>
                </a:solidFill>
                <a:latin typeface="Urbanist Medium"/>
                <a:ea typeface="Urbanist Medium"/>
                <a:cs typeface="Urbanist Medium"/>
                <a:sym typeface="Urbanist Medium"/>
              </a:rPr>
              <a:t>Signature Mismatch PSOD</a:t>
            </a:r>
            <a:endParaRPr/>
          </a:p>
        </p:txBody>
      </p:sp>
      <p:sp>
        <p:nvSpPr>
          <p:cNvPr id="456" name="Google Shape;456;p45"/>
          <p:cNvSpPr txBox="1"/>
          <p:nvPr/>
        </p:nvSpPr>
        <p:spPr>
          <a:xfrm>
            <a:off x="876300" y="3454896"/>
            <a:ext cx="4638675"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FCA5A5"/>
                </a:solidFill>
                <a:latin typeface="Inter"/>
                <a:ea typeface="Inter"/>
                <a:cs typeface="Inter"/>
                <a:sym typeface="Inter"/>
              </a:rPr>
              <a:t>If ESXi detects an unsigned VIB (e.g., an old RAID driver or community network driver), it will halt with a Purple Screen of Death (PSOD) to prevent potential execution of malware.</a:t>
            </a:r>
            <a:endParaRPr/>
          </a:p>
        </p:txBody>
      </p:sp>
      <p:sp>
        <p:nvSpPr>
          <p:cNvPr id="457" name="Google Shape;457;p45"/>
          <p:cNvSpPr txBox="1"/>
          <p:nvPr/>
        </p:nvSpPr>
        <p:spPr>
          <a:xfrm>
            <a:off x="6677025" y="2950071"/>
            <a:ext cx="4870608"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A7F3D0"/>
                </a:solidFill>
                <a:latin typeface="Urbanist Medium"/>
                <a:ea typeface="Urbanist Medium"/>
                <a:cs typeface="Urbanist Medium"/>
                <a:sym typeface="Urbanist Medium"/>
              </a:rPr>
              <a:t>Resolution Steps</a:t>
            </a:r>
            <a:endParaRPr/>
          </a:p>
        </p:txBody>
      </p:sp>
      <p:sp>
        <p:nvSpPr>
          <p:cNvPr id="458" name="Google Shape;458;p45"/>
          <p:cNvSpPr txBox="1"/>
          <p:nvPr/>
        </p:nvSpPr>
        <p:spPr>
          <a:xfrm>
            <a:off x="6677025" y="3454896"/>
            <a:ext cx="4638675"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6EE7B7"/>
                </a:solidFill>
                <a:latin typeface="Inter"/>
                <a:ea typeface="Inter"/>
                <a:cs typeface="Inter"/>
                <a:sym typeface="Inter"/>
              </a:rPr>
              <a:t>Disable Secure Boot in BIOS temporarily. Identify the offending VIB using esxupdate.log. Remove or update the VIB to a signed version, then re-enable Secure Boot.</a:t>
            </a:r>
            <a:endParaRPr/>
          </a:p>
        </p:txBody>
      </p:sp>
      <p:sp>
        <p:nvSpPr>
          <p:cNvPr id="459" name="Google Shape;459;p45"/>
          <p:cNvSpPr txBox="1"/>
          <p:nvPr/>
        </p:nvSpPr>
        <p:spPr>
          <a:xfrm>
            <a:off x="771525" y="581025"/>
            <a:ext cx="11381422"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dirty="0">
                <a:solidFill>
                  <a:srgbClr val="F8FAFC"/>
                </a:solidFill>
                <a:latin typeface="Urbanist SemiBold"/>
                <a:ea typeface="Urbanist SemiBold"/>
                <a:cs typeface="Urbanist SemiBold"/>
                <a:sym typeface="Urbanist SemiBold"/>
              </a:rPr>
              <a:t>Troubleshooting: THE "PURPLE SCREEN"</a:t>
            </a:r>
            <a:endParaRPr dirty="0"/>
          </a:p>
        </p:txBody>
      </p:sp>
      <p:sp>
        <p:nvSpPr>
          <p:cNvPr id="460" name="Google Shape;460;p45"/>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464"/>
        <p:cNvGrpSpPr/>
        <p:nvPr/>
      </p:nvGrpSpPr>
      <p:grpSpPr>
        <a:xfrm>
          <a:off x="0" y="0"/>
          <a:ext cx="0" cy="0"/>
          <a:chOff x="0" y="0"/>
          <a:chExt cx="0" cy="0"/>
        </a:xfrm>
      </p:grpSpPr>
      <p:pic>
        <p:nvPicPr>
          <p:cNvPr id="465" name="Google Shape;465;p4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66" name="Google Shape;466;p46" descr="image.png"/>
          <p:cNvPicPr preferRelativeResize="0"/>
          <p:nvPr/>
        </p:nvPicPr>
        <p:blipFill rotWithShape="1">
          <a:blip r:embed="rId4">
            <a:alphaModFix/>
          </a:blip>
          <a:srcRect/>
          <a:stretch/>
        </p:blipFill>
        <p:spPr>
          <a:xfrm>
            <a:off x="6334125" y="1895475"/>
            <a:ext cx="5276850" cy="4000500"/>
          </a:xfrm>
          <a:prstGeom prst="rect">
            <a:avLst/>
          </a:prstGeom>
          <a:noFill/>
          <a:ln>
            <a:noFill/>
          </a:ln>
        </p:spPr>
      </p:pic>
      <p:sp>
        <p:nvSpPr>
          <p:cNvPr id="467" name="Google Shape;467;p46"/>
          <p:cNvSpPr txBox="1"/>
          <p:nvPr/>
        </p:nvSpPr>
        <p:spPr>
          <a:xfrm>
            <a:off x="581025" y="1895475"/>
            <a:ext cx="55407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DEFF9A"/>
                </a:solidFill>
                <a:latin typeface="Urbanist Medium"/>
                <a:ea typeface="Urbanist Medium"/>
                <a:cs typeface="Urbanist Medium"/>
                <a:sym typeface="Urbanist Medium"/>
              </a:rPr>
              <a:t>"Connection cannot be established"</a:t>
            </a:r>
            <a:endParaRPr/>
          </a:p>
        </p:txBody>
      </p:sp>
      <p:sp>
        <p:nvSpPr>
          <p:cNvPr id="468" name="Google Shape;468;p46"/>
          <p:cNvSpPr txBox="1"/>
          <p:nvPr/>
        </p:nvSpPr>
        <p:spPr>
          <a:xfrm>
            <a:off x="581025" y="2400300"/>
            <a:ext cx="5277000" cy="8772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AFFDE"/>
                </a:solidFill>
                <a:latin typeface="Inter"/>
                <a:ea typeface="Inter"/>
                <a:cs typeface="Inter"/>
                <a:sym typeface="Inter"/>
              </a:rPr>
              <a:t>Often seen in vCenter when a host detects TPM 2.0 but fails to communicate. This is typically a BIOS misconfiguration or mismatched algorithm.</a:t>
            </a:r>
            <a:endParaRPr/>
          </a:p>
        </p:txBody>
      </p:sp>
      <p:pic>
        <p:nvPicPr>
          <p:cNvPr id="469" name="Google Shape;469;p46" descr="image.png"/>
          <p:cNvPicPr preferRelativeResize="0"/>
          <p:nvPr/>
        </p:nvPicPr>
        <p:blipFill rotWithShape="1">
          <a:blip r:embed="rId5">
            <a:alphaModFix/>
          </a:blip>
          <a:srcRect/>
          <a:stretch/>
        </p:blipFill>
        <p:spPr>
          <a:xfrm>
            <a:off x="6343650" y="1905000"/>
            <a:ext cx="5257799" cy="3981450"/>
          </a:xfrm>
          <a:prstGeom prst="rect">
            <a:avLst/>
          </a:prstGeom>
          <a:noFill/>
          <a:ln>
            <a:noFill/>
          </a:ln>
        </p:spPr>
      </p:pic>
      <p:sp>
        <p:nvSpPr>
          <p:cNvPr id="470" name="Google Shape;470;p46"/>
          <p:cNvSpPr txBox="1"/>
          <p:nvPr/>
        </p:nvSpPr>
        <p:spPr>
          <a:xfrm>
            <a:off x="962025" y="3405187"/>
            <a:ext cx="4896000" cy="2193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AFFDE"/>
                </a:solidFill>
                <a:latin typeface="Inter"/>
                <a:ea typeface="Inter"/>
                <a:cs typeface="Inter"/>
                <a:sym typeface="Inter"/>
              </a:rPr>
              <a:t>Set TPM Algorithm to </a:t>
            </a:r>
            <a:r>
              <a:rPr lang="en-US" sz="1425" b="1" i="0" u="none" strike="noStrike" cap="none">
                <a:solidFill>
                  <a:srgbClr val="DAFFDE"/>
                </a:solidFill>
                <a:latin typeface="Inter"/>
                <a:ea typeface="Inter"/>
                <a:cs typeface="Inter"/>
                <a:sym typeface="Inter"/>
              </a:rPr>
              <a:t>SHA-256</a:t>
            </a:r>
            <a:r>
              <a:rPr lang="en-US" sz="1425" b="0" i="0" u="none" strike="noStrike" cap="none">
                <a:solidFill>
                  <a:srgbClr val="DAFFDE"/>
                </a:solidFill>
                <a:latin typeface="Inter"/>
                <a:ea typeface="Inter"/>
                <a:cs typeface="Inter"/>
                <a:sym typeface="Inter"/>
              </a:rPr>
              <a:t> (not SHA-1).</a:t>
            </a:r>
            <a:endParaRPr/>
          </a:p>
        </p:txBody>
      </p:sp>
      <p:sp>
        <p:nvSpPr>
          <p:cNvPr id="471" name="Google Shape;471;p46"/>
          <p:cNvSpPr txBox="1"/>
          <p:nvPr/>
        </p:nvSpPr>
        <p:spPr>
          <a:xfrm>
            <a:off x="962025" y="3867150"/>
            <a:ext cx="4896000" cy="2193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AFFDE"/>
                </a:solidFill>
                <a:latin typeface="Inter"/>
                <a:ea typeface="Inter"/>
                <a:cs typeface="Inter"/>
                <a:sym typeface="Inter"/>
              </a:rPr>
              <a:t>Enable TPM 2.0 and "Clear TPM" if attestation fails.</a:t>
            </a:r>
            <a:endParaRPr/>
          </a:p>
        </p:txBody>
      </p:sp>
      <p:sp>
        <p:nvSpPr>
          <p:cNvPr id="472" name="Google Shape;472;p46"/>
          <p:cNvSpPr txBox="1"/>
          <p:nvPr/>
        </p:nvSpPr>
        <p:spPr>
          <a:xfrm>
            <a:off x="962025" y="4329112"/>
            <a:ext cx="4896000" cy="2193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AFFDE"/>
                </a:solidFill>
                <a:latin typeface="Inter"/>
                <a:ea typeface="Inter"/>
                <a:cs typeface="Inter"/>
                <a:sym typeface="Inter"/>
              </a:rPr>
              <a:t>Bypass Physical Presence Interface (PPI) for automation.</a:t>
            </a:r>
            <a:endParaRPr/>
          </a:p>
        </p:txBody>
      </p:sp>
      <p:pic>
        <p:nvPicPr>
          <p:cNvPr id="473" name="Google Shape;473;p46" descr="image.png"/>
          <p:cNvPicPr preferRelativeResize="0"/>
          <p:nvPr/>
        </p:nvPicPr>
        <p:blipFill rotWithShape="1">
          <a:blip r:embed="rId6">
            <a:alphaModFix/>
          </a:blip>
          <a:srcRect/>
          <a:stretch/>
        </p:blipFill>
        <p:spPr>
          <a:xfrm>
            <a:off x="581025" y="3443287"/>
            <a:ext cx="200025" cy="247650"/>
          </a:xfrm>
          <a:prstGeom prst="rect">
            <a:avLst/>
          </a:prstGeom>
          <a:noFill/>
          <a:ln>
            <a:noFill/>
          </a:ln>
        </p:spPr>
      </p:pic>
      <p:pic>
        <p:nvPicPr>
          <p:cNvPr id="474" name="Google Shape;474;p46" descr="image.png"/>
          <p:cNvPicPr preferRelativeResize="0"/>
          <p:nvPr/>
        </p:nvPicPr>
        <p:blipFill rotWithShape="1">
          <a:blip r:embed="rId6">
            <a:alphaModFix/>
          </a:blip>
          <a:srcRect/>
          <a:stretch/>
        </p:blipFill>
        <p:spPr>
          <a:xfrm>
            <a:off x="581025" y="3905250"/>
            <a:ext cx="200025" cy="247650"/>
          </a:xfrm>
          <a:prstGeom prst="rect">
            <a:avLst/>
          </a:prstGeom>
          <a:noFill/>
          <a:ln>
            <a:noFill/>
          </a:ln>
        </p:spPr>
      </p:pic>
      <p:pic>
        <p:nvPicPr>
          <p:cNvPr id="475" name="Google Shape;475;p46" descr="image.png"/>
          <p:cNvPicPr preferRelativeResize="0"/>
          <p:nvPr/>
        </p:nvPicPr>
        <p:blipFill rotWithShape="1">
          <a:blip r:embed="rId6">
            <a:alphaModFix/>
          </a:blip>
          <a:srcRect/>
          <a:stretch/>
        </p:blipFill>
        <p:spPr>
          <a:xfrm>
            <a:off x="581025" y="4367212"/>
            <a:ext cx="200025" cy="247650"/>
          </a:xfrm>
          <a:prstGeom prst="rect">
            <a:avLst/>
          </a:prstGeom>
          <a:noFill/>
          <a:ln>
            <a:noFill/>
          </a:ln>
        </p:spPr>
      </p:pic>
      <p:sp>
        <p:nvSpPr>
          <p:cNvPr id="476" name="Google Shape;476;p46"/>
          <p:cNvSpPr txBox="1"/>
          <p:nvPr/>
        </p:nvSpPr>
        <p:spPr>
          <a:xfrm>
            <a:off x="771525" y="581025"/>
            <a:ext cx="113814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dirty="0">
                <a:solidFill>
                  <a:schemeClr val="bg1"/>
                </a:solidFill>
                <a:latin typeface="Urbanist SemiBold"/>
                <a:ea typeface="Urbanist SemiBold"/>
                <a:cs typeface="Urbanist SemiBold"/>
                <a:sym typeface="Urbanist SemiBold"/>
              </a:rPr>
              <a:t>Fixing TPM 2.0 Connection Alerts</a:t>
            </a:r>
            <a:endParaRPr dirty="0">
              <a:solidFill>
                <a:schemeClr val="bg1"/>
              </a:solidFill>
            </a:endParaRPr>
          </a:p>
        </p:txBody>
      </p:sp>
      <p:sp>
        <p:nvSpPr>
          <p:cNvPr id="2" name="Google Shape;324;p36">
            <a:extLst>
              <a:ext uri="{FF2B5EF4-FFF2-40B4-BE49-F238E27FC236}">
                <a16:creationId xmlns:a16="http://schemas.microsoft.com/office/drawing/2014/main" id="{20CBFA07-430B-C1E5-A2CE-022F17206C3E}"/>
              </a:ext>
            </a:extLst>
          </p:cNvPr>
          <p:cNvSpPr/>
          <p:nvPr/>
        </p:nvSpPr>
        <p:spPr>
          <a:xfrm>
            <a:off x="581025" y="581025"/>
            <a:ext cx="57150" cy="50482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481"/>
        <p:cNvGrpSpPr/>
        <p:nvPr/>
      </p:nvGrpSpPr>
      <p:grpSpPr>
        <a:xfrm>
          <a:off x="0" y="0"/>
          <a:ext cx="0" cy="0"/>
          <a:chOff x="0" y="0"/>
          <a:chExt cx="0" cy="0"/>
        </a:xfrm>
      </p:grpSpPr>
      <p:pic>
        <p:nvPicPr>
          <p:cNvPr id="482" name="Google Shape;482;p4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83" name="Google Shape;483;p47"/>
          <p:cNvSpPr txBox="1"/>
          <p:nvPr/>
        </p:nvSpPr>
        <p:spPr>
          <a:xfrm>
            <a:off x="305276" y="1891754"/>
            <a:ext cx="11581447"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38BDF8"/>
                </a:solidFill>
                <a:latin typeface="Urbanist"/>
                <a:ea typeface="Urbanist"/>
                <a:cs typeface="Urbanist"/>
                <a:sym typeface="Urbanist"/>
              </a:rPr>
              <a:t>Questions?</a:t>
            </a:r>
            <a:endParaRPr/>
          </a:p>
        </p:txBody>
      </p:sp>
      <p:sp>
        <p:nvSpPr>
          <p:cNvPr id="484" name="Google Shape;484;p47"/>
          <p:cNvSpPr txBox="1"/>
          <p:nvPr/>
        </p:nvSpPr>
        <p:spPr>
          <a:xfrm>
            <a:off x="2286000" y="2806154"/>
            <a:ext cx="7620000" cy="731341"/>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94A3B8"/>
                </a:solidFill>
                <a:latin typeface="Inter"/>
                <a:ea typeface="Inter"/>
                <a:cs typeface="Inter"/>
                <a:sym typeface="Inter"/>
              </a:rPr>
              <a:t>Next Steps: Audit your hardware inventory for UEFI/TPM compatibility before cluster-wide rollout.</a:t>
            </a:r>
            <a:endParaRPr/>
          </a:p>
        </p:txBody>
      </p:sp>
      <p:pic>
        <p:nvPicPr>
          <p:cNvPr id="485" name="Google Shape;485;p47" descr="image.png"/>
          <p:cNvPicPr preferRelativeResize="0"/>
          <p:nvPr/>
        </p:nvPicPr>
        <p:blipFill rotWithShape="1">
          <a:blip r:embed="rId4">
            <a:alphaModFix/>
          </a:blip>
          <a:srcRect/>
          <a:stretch/>
        </p:blipFill>
        <p:spPr>
          <a:xfrm>
            <a:off x="5619750" y="4013745"/>
            <a:ext cx="952500" cy="9525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1079</Words>
  <Application>Microsoft Office PowerPoint</Application>
  <PresentationFormat>Widescreen</PresentationFormat>
  <Paragraphs>143</Paragraphs>
  <Slides>23</Slides>
  <Notes>23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23</vt:i4>
      </vt:variant>
    </vt:vector>
  </HeadingPairs>
  <TitlesOfParts>
    <vt:vector size="34" baseType="lpstr">
      <vt:lpstr>Urbanist SemiBold</vt:lpstr>
      <vt:lpstr>Urbanist Medium</vt:lpstr>
      <vt:lpstr>Urbanist</vt:lpstr>
      <vt:lpstr>Lato</vt:lpstr>
      <vt:lpstr>Arial</vt:lpstr>
      <vt:lpstr>Poppins</vt:lpstr>
      <vt:lpstr>Calibri</vt:lpstr>
      <vt:lpstr>Inter SemiBold</vt:lpstr>
      <vt:lpstr>Inter</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Russ Hamker</cp:lastModifiedBy>
  <cp:revision>3</cp:revision>
  <dcterms:modified xsi:type="dcterms:W3CDTF">2026-05-06T15:21:44Z</dcterms:modified>
</cp:coreProperties>
</file>